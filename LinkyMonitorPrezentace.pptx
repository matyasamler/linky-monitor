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bb76b6be-435e-e0c1-adee-f79e3928207b}">
          <p14:sldIdLst>
            <p14:sldId id="256"/>
            <p14:sldId id="257"/>
          </p14:sldIdLst>
        </p14:section>
        <p14:section name="Jak to funguje" id="{e9147db6-4607-16a2-b230-bdf015912046}">
          <p14:sldIdLst>
            <p14:sldId id="258"/>
            <p14:sldId id="259"/>
            <p14:sldId id="260"/>
            <p14:sldId id="261"/>
          </p14:sldIdLst>
        </p14:section>
        <p14:section name="Výsledky" id="{d41480b7-56b4-a87d-8c86-960ea3229056}">
          <p14:sldIdLst>
            <p14:sldId id="262"/>
            <p14:sldId id="263"/>
          </p14:sldIdLst>
        </p14:section>
        <p14:section name="Co dál" id="{94fe9aa0-7f70-1d02-7fe6-4579e64dc952}">
          <p14:sldIdLst>
            <p14:sldId id="264"/>
            <p14:sldId id="265"/>
          </p14:sldIdLst>
        </p14:section>
        <p14:section name="Závěr" id="{164066b7-5b6d-cb2b-028a-aaaafd41508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93A0B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93A0B0"/>
                </a:solidFill>
                <a:latin typeface="+mn-lt"/>
              </a:rPr>
              <a:t>OEE podle linek za týden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(%)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4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BF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D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D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BF7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BF7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4D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BF7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BF7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PP-08</c:v>
                  </c:pt>
                  <c:pt idx="1">
                    <c:v>PP-07</c:v>
                  </c:pt>
                  <c:pt idx="2">
                    <c:v>PP-06</c:v>
                  </c:pt>
                  <c:pt idx="3">
                    <c:v>PP-05</c:v>
                  </c:pt>
                  <c:pt idx="4">
                    <c:v>PP-04</c:v>
                  </c:pt>
                  <c:pt idx="5">
                    <c:v>PP-03</c:v>
                  </c:pt>
                  <c:pt idx="6">
                    <c:v>PP-02</c:v>
                  </c:pt>
                  <c:pt idx="7">
                    <c:v>PP-01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88.5</c:v>
                </c:pt>
                <c:pt idx="1">
                  <c:v>85.1</c:v>
                </c:pt>
                <c:pt idx="2">
                  <c:v>86.6</c:v>
                </c:pt>
                <c:pt idx="3">
                  <c:v>87.2</c:v>
                </c:pt>
                <c:pt idx="4">
                  <c:v>87.7</c:v>
                </c:pt>
                <c:pt idx="5">
                  <c:v>80.4</c:v>
                </c:pt>
                <c:pt idx="6">
                  <c:v>88.2</c:v>
                </c:pt>
                <c:pt idx="7">
                  <c:v>88.1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F2F4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2F4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b"/>
        <c:majorGridlines>
          <c:spPr>
            <a:ln w="9525" cap="flat">
              <a:solidFill>
                <a:srgbClr val="2C3643"/>
              </a:solidFill>
              <a:prstDash val="solid"/>
              <a:round/>
            </a:ln>
          </c:spPr>
        </c:majorGridlines>
        <c:numFmt formatCode="0&quot; 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0B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3A0B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93A0B0"/>
                </a:solidFill>
                <a:latin typeface="+mn-lt"/>
              </a:rPr>
              <a:t>Ilustrační data: hmotnost sáčku během směny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Průměrná hmotnost sáčku (g)</c:v>
                </c:pt>
              </c:strCache>
            </c:strRef>
          </c:tx>
          <c:spPr>
            <a:solidFill>
              <a:srgbClr val="F2F4F7"/>
            </a:solidFill>
            <a:ln w="31750" cap="flat">
              <a:solidFill>
                <a:srgbClr val="F2F4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F4F7"/>
              </a:solidFill>
              <a:ln w="9525" cap="flat">
                <a:solidFill>
                  <a:srgbClr val="F2F4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52.04</c:v>
                </c:pt>
                <c:pt idx="1">
                  <c:v>51.91</c:v>
                </c:pt>
                <c:pt idx="2">
                  <c:v>51.99</c:v>
                </c:pt>
                <c:pt idx="3">
                  <c:v>52.03</c:v>
                </c:pt>
                <c:pt idx="4">
                  <c:v>51.94</c:v>
                </c:pt>
                <c:pt idx="5">
                  <c:v>52</c:v>
                </c:pt>
                <c:pt idx="6">
                  <c:v>52.12</c:v>
                </c:pt>
                <c:pt idx="7">
                  <c:v>52</c:v>
                </c:pt>
                <c:pt idx="8">
                  <c:v>51.86</c:v>
                </c:pt>
                <c:pt idx="9">
                  <c:v>51.99</c:v>
                </c:pt>
                <c:pt idx="10">
                  <c:v>52.09</c:v>
                </c:pt>
                <c:pt idx="11">
                  <c:v>51.99</c:v>
                </c:pt>
                <c:pt idx="12">
                  <c:v>52.09</c:v>
                </c:pt>
                <c:pt idx="13">
                  <c:v>52.28</c:v>
                </c:pt>
                <c:pt idx="14">
                  <c:v>52.28</c:v>
                </c:pt>
                <c:pt idx="15">
                  <c:v>52.3</c:v>
                </c:pt>
                <c:pt idx="16">
                  <c:v>52.57</c:v>
                </c:pt>
                <c:pt idx="17">
                  <c:v>52.76</c:v>
                </c:pt>
                <c:pt idx="18">
                  <c:v>52.71</c:v>
                </c:pt>
                <c:pt idx="19">
                  <c:v>52.76</c:v>
                </c:pt>
                <c:pt idx="20">
                  <c:v>52.98</c:v>
                </c:pt>
                <c:pt idx="21">
                  <c:v>53.04</c:v>
                </c:pt>
                <c:pt idx="22">
                  <c:v>53.09</c:v>
                </c:pt>
                <c:pt idx="23">
                  <c:v>53.33</c:v>
                </c:pt>
                <c:pt idx="24">
                  <c:v>53.47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Varovná mez</c:v>
                </c:pt>
              </c:strCache>
            </c:strRef>
          </c:tx>
          <c:spPr>
            <a:solidFill>
              <a:srgbClr val="FF9F1C"/>
            </a:solidFill>
            <a:ln w="31750" cap="flat">
              <a:solidFill>
                <a:srgbClr val="FF9F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9F1C"/>
              </a:solidFill>
              <a:ln w="9525" cap="flat">
                <a:solidFill>
                  <a:srgbClr val="FF9F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52.6</c:v>
                </c:pt>
                <c:pt idx="1">
                  <c:v>52.6</c:v>
                </c:pt>
                <c:pt idx="2">
                  <c:v>52.6</c:v>
                </c:pt>
                <c:pt idx="3">
                  <c:v>52.6</c:v>
                </c:pt>
                <c:pt idx="4">
                  <c:v>52.6</c:v>
                </c:pt>
                <c:pt idx="5">
                  <c:v>52.6</c:v>
                </c:pt>
                <c:pt idx="6">
                  <c:v>52.6</c:v>
                </c:pt>
                <c:pt idx="7">
                  <c:v>52.6</c:v>
                </c:pt>
                <c:pt idx="8">
                  <c:v>52.6</c:v>
                </c:pt>
                <c:pt idx="9">
                  <c:v>52.6</c:v>
                </c:pt>
                <c:pt idx="10">
                  <c:v>52.6</c:v>
                </c:pt>
                <c:pt idx="11">
                  <c:v>52.6</c:v>
                </c:pt>
                <c:pt idx="12">
                  <c:v>52.6</c:v>
                </c:pt>
                <c:pt idx="13">
                  <c:v>52.6</c:v>
                </c:pt>
                <c:pt idx="14">
                  <c:v>52.6</c:v>
                </c:pt>
                <c:pt idx="15">
                  <c:v>52.6</c:v>
                </c:pt>
                <c:pt idx="16">
                  <c:v>52.6</c:v>
                </c:pt>
                <c:pt idx="17">
                  <c:v>52.6</c:v>
                </c:pt>
                <c:pt idx="18">
                  <c:v>52.6</c:v>
                </c:pt>
                <c:pt idx="19">
                  <c:v>52.6</c:v>
                </c:pt>
                <c:pt idx="20">
                  <c:v>52.6</c:v>
                </c:pt>
                <c:pt idx="21">
                  <c:v>52.6</c:v>
                </c:pt>
                <c:pt idx="22">
                  <c:v>52.6</c:v>
                </c:pt>
                <c:pt idx="23">
                  <c:v>52.6</c:v>
                </c:pt>
                <c:pt idx="24">
                  <c:v>52.6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Horní mez tolerance</c:v>
                </c:pt>
              </c:strCache>
            </c:strRef>
          </c:tx>
          <c:spPr>
            <a:solidFill>
              <a:srgbClr val="FF4D4F"/>
            </a:solidFill>
            <a:ln w="31750" cap="flat">
              <a:solidFill>
                <a:srgbClr val="FF4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4D4F"/>
              </a:solidFill>
              <a:ln w="9525" cap="flat">
                <a:solidFill>
                  <a:srgbClr val="FF4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  <c:pt idx="21">
                    <c:v>105</c:v>
                  </c:pt>
                  <c:pt idx="22">
                    <c:v>110</c:v>
                  </c:pt>
                  <c:pt idx="23">
                    <c:v>115</c:v>
                  </c:pt>
                  <c:pt idx="24">
                    <c:v>120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53</c:v>
                </c:pt>
                <c:pt idx="1">
                  <c:v>53</c:v>
                </c:pt>
                <c:pt idx="2">
                  <c:v>53</c:v>
                </c:pt>
                <c:pt idx="3">
                  <c:v>53</c:v>
                </c:pt>
                <c:pt idx="4">
                  <c:v>53</c:v>
                </c:pt>
                <c:pt idx="5">
                  <c:v>53</c:v>
                </c:pt>
                <c:pt idx="6">
                  <c:v>53</c:v>
                </c:pt>
                <c:pt idx="7">
                  <c:v>53</c:v>
                </c:pt>
                <c:pt idx="8">
                  <c:v>53</c:v>
                </c:pt>
                <c:pt idx="9">
                  <c:v>53</c:v>
                </c:pt>
                <c:pt idx="10">
                  <c:v>53</c:v>
                </c:pt>
                <c:pt idx="11">
                  <c:v>53</c:v>
                </c:pt>
                <c:pt idx="12">
                  <c:v>53</c:v>
                </c:pt>
                <c:pt idx="13">
                  <c:v>53</c:v>
                </c:pt>
                <c:pt idx="14">
                  <c:v>53</c:v>
                </c:pt>
                <c:pt idx="15">
                  <c:v>53</c:v>
                </c:pt>
                <c:pt idx="16">
                  <c:v>53</c:v>
                </c:pt>
                <c:pt idx="17">
                  <c:v>53</c:v>
                </c:pt>
                <c:pt idx="18">
                  <c:v>53</c:v>
                </c:pt>
                <c:pt idx="19">
                  <c:v>53</c:v>
                </c:pt>
                <c:pt idx="20">
                  <c:v>53</c:v>
                </c:pt>
                <c:pt idx="21">
                  <c:v>53</c:v>
                </c:pt>
                <c:pt idx="22">
                  <c:v>53</c:v>
                </c:pt>
                <c:pt idx="23">
                  <c:v>53</c:v>
                </c:pt>
                <c:pt idx="24">
                  <c:v>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3A0B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3A0B0"/>
                    </a:solidFill>
                    <a:latin typeface="+mn-lt"/>
                  </a:rPr>
                  <a:t>minuta směny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0B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53.6"/>
          <c:min val="51.6"/>
        </c:scaling>
        <c:delete val="0"/>
        <c:axPos val="l"/>
        <c:majorGridlines>
          <c:spPr>
            <a:ln w="9525" cap="flat">
              <a:solidFill>
                <a:srgbClr val="2C364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0B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2F4F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Dobrý den, chci vám ukázat projekt Linky monitor, který jsem udělal jako ukázku k přihlášce. Je to malý nástroj v Pythonu, který z dat o výrobě sám pozná, kde balicí linky ztrácejí výkon, a připraví z toho přehledný report. Inspiroval jsem se příklady přímo z vašeho inzerátu: sledování výkonu linek a automatizace reportů, které se dnes dělají ručně.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každé balicí lince vznikají každou hodinu data: kolik minut jela, kolik sáčků vyrobila, kolik bylo vadných a proč se zastavila. Jen v mé simulaci je to za týden 1 344 hodinových záznamů a 1 283 zastávek. Když se to prochází ručně v tabulkách, trvá to hodiny a drobné opakované problémy se snadno přehlédnou. To byl problém, který jsem chtěl vyřešit.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 má dva skripty. První, generuj_data.py, vytvoří ukázková data do dvou CSV souborů. Druhý, analyza.py, je nahraje do databáze SQLite, spočítá ukazatele pomocí SQL dotazů, najde problémy a uloží HTML report. Celé to běží jen na standardní knihovně Pythonu, takže se nic nemusí instalovat – stačí spustit dva příkazy.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Skutečná výrobní data nemám, tak jsem si je nasimuloval: 8 linek, 7 dní, 3 směny. Každý čtvereček je jedna směna jedné linky. Do dat jsem schválně schoval tři problémy: na PP-03 se často zasekává váha, PP-06 dělá v noci víc zmetků a PP-07 jednou stála pět hodin kvůli poruše podavače. Cílem bylo ověřit, že je analýza najde sama, bez nápovědy.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Hlavní ukazatel je OEE, celková efektivita zařízení. Skládá se ze tří částí: dostupnost říká, jak dlouho linka opravdu jela z plánovaného času, výkon, kolik vyrobila oproti cílové rychlosti 40 sáčků za minutu, a kvalita, jaký podíl sáčků byl v pořádku. Když se vynásobí, vznikne jedno číslo – třeba PP-01 má 88 %. Díky tomu jde linky férově porovnat mezi sebou.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 daty pak běží čtyři pravidla. První hledá linky s OEE výrazně pod průměrem a řekne, která složka je brzdí. Druhé hledá opakované krátké zastávky – ty jsou zrádné, protože je nikdo nehlásí, ale dohromady stojí hodiny. Třetí porovnává zmetky mezi směnami a čtvrté zachytí velké poruchy. Hranice jsou nastavené tak, aby report neupozorňoval na běžný šum.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výsledek: analýza našla všechny tři vložené problémy. PP-03 má OEE jen 80 % proti průměru 86 % a důvodem je váha, která se za týden zasekla 614krát, pokaždé jen asi na minutu a půl. Noční směna na PP-06 má 5,7 % vadných sáčků, ostatní směny 0,6 %. A PP-07 stála 17. října pět hodin kvůli poruše podavače.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Všechno se automaticky uloží do HTML reportu. Nahoře je seznam „Na co se podívat“ – problémy napsané normálními větami, aby jim rozuměl i mistr nebo manažer, který nechce číst tabulky. Pod tím je graf OEE, kde jsou problémové linky červeně, a tabulky s detaily. Report je jeden soubor, takže jde otevřít v prohlížeči nebo poslat e-mailem.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skutečnými daty by se vyměnila jen jedna funkce, nacti_data(), která by místo CSV četla data třeba přímo z výrobního systému nebo z databáze. Zbytek zůstane stejný. Dál bych rád přidal export do Power BI, upozornění do Teams, když OEE během směny spadne pod limit, a porovnání týden po týdnu, aby bylo vidět, jestli opatření pomohla.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jeden vlastní nápad pro PrePack. Chyby váhy se v mých datech projevovaly jako spousta krátkých zastávek. Napadlo mě hlídat trend hmotnosti sáčků během směny a varovat dřív, než se překročí tolerance. Tady na ilustračních datech by upozornění přišlo kolem 80. minuty, zatímco zmetky by začaly až kolem stovky. Je to zatím jen nápad – rád bych si ověřil, jak vážení na lince funguje doopravdy.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Děkuji za pozornost. Celý kód je na GitHubu, rád ho ukážu přímo nebo odpovím na otázky.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NI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83080"/>
            <a:ext cx="640080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72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217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Linky monitor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Štítek projektu"/>
          <p:cNvSpPr txBox="1"/>
          <p:nvPr/>
        </p:nvSpPr>
        <p:spPr>
          <a:xfrm>
            <a:off x="731520" y="1261872"/>
            <a:ext cx="23774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UKÁZKOVÝ PROJEKT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83080"/>
            <a:ext cx="6400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chemeClr val="tx1"/>
                </a:solidFill>
              </a:rPr>
              <a:t>LINKY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chemeClr val="tx1"/>
                </a:solidFill>
              </a:rPr>
              <a:t>MONITOR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23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Výkon balicích linek a automatický report</a:t>
            </a:r>
            <a:endParaRPr lang="en-US" sz="2200" dirty="0"/>
          </a:p>
        </p:txBody>
      </p:sp>
      <p:sp>
        <p:nvSpPr>
          <p:cNvPr id="5" name="Technologie Python"/>
          <p:cNvSpPr txBox="1"/>
          <p:nvPr/>
        </p:nvSpPr>
        <p:spPr>
          <a:xfrm>
            <a:off x="731520" y="4937760"/>
            <a:ext cx="10515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Python</a:t>
            </a:r>
            <a:endParaRPr lang="en-US" sz="1200" dirty="0"/>
          </a:p>
        </p:txBody>
      </p:sp>
      <p:sp>
        <p:nvSpPr>
          <p:cNvPr id="6" name="Technologie SQLite"/>
          <p:cNvSpPr txBox="1"/>
          <p:nvPr/>
        </p:nvSpPr>
        <p:spPr>
          <a:xfrm>
            <a:off x="1920240" y="4937760"/>
            <a:ext cx="10515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SQLite</a:t>
            </a:r>
            <a:endParaRPr lang="en-US" sz="1200" dirty="0"/>
          </a:p>
        </p:txBody>
      </p:sp>
      <p:sp>
        <p:nvSpPr>
          <p:cNvPr id="7" name="Technologie HTML report"/>
          <p:cNvSpPr txBox="1"/>
          <p:nvPr/>
        </p:nvSpPr>
        <p:spPr>
          <a:xfrm>
            <a:off x="3108960" y="4937760"/>
            <a:ext cx="14630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HTML report</a:t>
            </a:r>
            <a:endParaRPr lang="en-US" sz="1200" dirty="0"/>
          </a:p>
        </p:txBody>
      </p:sp>
      <p:sp>
        <p:nvSpPr>
          <p:cNvPr id="8" name="Technologie jen standardní knihovna"/>
          <p:cNvSpPr txBox="1"/>
          <p:nvPr/>
        </p:nvSpPr>
        <p:spPr>
          <a:xfrm>
            <a:off x="4709160" y="4937760"/>
            <a:ext cx="24231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jen standardní knihovna</a:t>
            </a:r>
            <a:endParaRPr lang="en-US" sz="1200" dirty="0"/>
          </a:p>
        </p:txBody>
      </p:sp>
      <p:sp>
        <p:nvSpPr>
          <p:cNvPr id="9" name="Autor a pozice"/>
          <p:cNvSpPr txBox="1"/>
          <p:nvPr/>
        </p:nvSpPr>
        <p:spPr>
          <a:xfrm>
            <a:off x="731520" y="5989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Matyáš Amler  ·  Student Worker – IT &amp; Digital Solutions  ·  LEGO® továrna Kladno</a:t>
            </a:r>
            <a:endParaRPr lang="en-US" sz="1200" dirty="0"/>
          </a:p>
        </p:txBody>
      </p:sp>
      <p:sp>
        <p:nvSpPr>
          <p:cNvPr id="10" name="Náhled OEE linek"/>
          <p:cNvSpPr/>
          <p:nvPr/>
        </p:nvSpPr>
        <p:spPr>
          <a:xfrm>
            <a:off x="7543800" y="1234440"/>
            <a:ext cx="4069080" cy="443484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Náhled – nadpis"/>
          <p:cNvSpPr txBox="1"/>
          <p:nvPr/>
        </p:nvSpPr>
        <p:spPr>
          <a:xfrm>
            <a:off x="78181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OEE podle linek za týden</a:t>
            </a:r>
            <a:endParaRPr lang="en-US" sz="1200" dirty="0"/>
          </a:p>
        </p:txBody>
      </p:sp>
      <p:sp>
        <p:nvSpPr>
          <p:cNvPr id="12" name="Náhled PP-01"/>
          <p:cNvSpPr txBox="1"/>
          <p:nvPr/>
        </p:nvSpPr>
        <p:spPr>
          <a:xfrm>
            <a:off x="7818120" y="1938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PP-01</a:t>
            </a:r>
            <a:endParaRPr lang="en-US" sz="1100" dirty="0"/>
          </a:p>
        </p:txBody>
      </p:sp>
      <p:sp>
        <p:nvSpPr>
          <p:cNvPr id="13" name="Náhled pruh PP-01"/>
          <p:cNvSpPr/>
          <p:nvPr/>
        </p:nvSpPr>
        <p:spPr>
          <a:xfrm>
            <a:off x="8549640" y="1965960"/>
            <a:ext cx="1842121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14" name="Náhled hodnota PP-01"/>
          <p:cNvSpPr txBox="1"/>
          <p:nvPr/>
        </p:nvSpPr>
        <p:spPr>
          <a:xfrm>
            <a:off x="10483201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88 %</a:t>
            </a:r>
            <a:endParaRPr lang="en-US" sz="1100" dirty="0"/>
          </a:p>
        </p:txBody>
      </p:sp>
      <p:sp>
        <p:nvSpPr>
          <p:cNvPr id="15" name="Náhled PP-02"/>
          <p:cNvSpPr txBox="1"/>
          <p:nvPr/>
        </p:nvSpPr>
        <p:spPr>
          <a:xfrm>
            <a:off x="7818120" y="2304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PP-02</a:t>
            </a:r>
            <a:endParaRPr lang="en-US" sz="1100" dirty="0"/>
          </a:p>
        </p:txBody>
      </p:sp>
      <p:sp>
        <p:nvSpPr>
          <p:cNvPr id="16" name="Náhled pruh PP-02"/>
          <p:cNvSpPr/>
          <p:nvPr/>
        </p:nvSpPr>
        <p:spPr>
          <a:xfrm>
            <a:off x="8549640" y="2331720"/>
            <a:ext cx="1854341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17" name="Náhled hodnota PP-02"/>
          <p:cNvSpPr txBox="1"/>
          <p:nvPr/>
        </p:nvSpPr>
        <p:spPr>
          <a:xfrm>
            <a:off x="10495421" y="2304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88 %</a:t>
            </a:r>
            <a:endParaRPr lang="en-US" sz="1100" dirty="0"/>
          </a:p>
        </p:txBody>
      </p:sp>
      <p:sp>
        <p:nvSpPr>
          <p:cNvPr id="18" name="Náhled PP-03"/>
          <p:cNvSpPr txBox="1"/>
          <p:nvPr/>
        </p:nvSpPr>
        <p:spPr>
          <a:xfrm>
            <a:off x="7818120" y="26700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PP-03</a:t>
            </a:r>
            <a:endParaRPr lang="en-US" sz="1100" dirty="0"/>
          </a:p>
        </p:txBody>
      </p:sp>
      <p:sp>
        <p:nvSpPr>
          <p:cNvPr id="19" name="Náhled pruh PP-03"/>
          <p:cNvSpPr/>
          <p:nvPr/>
        </p:nvSpPr>
        <p:spPr>
          <a:xfrm>
            <a:off x="8549640" y="2697480"/>
            <a:ext cx="1057005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sp>
        <p:nvSpPr>
          <p:cNvPr id="20" name="Náhled hodnota PP-03"/>
          <p:cNvSpPr txBox="1"/>
          <p:nvPr/>
        </p:nvSpPr>
        <p:spPr>
          <a:xfrm>
            <a:off x="9698085" y="2670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80 %</a:t>
            </a:r>
            <a:endParaRPr lang="en-US" sz="1100" dirty="0"/>
          </a:p>
        </p:txBody>
      </p:sp>
      <p:sp>
        <p:nvSpPr>
          <p:cNvPr id="21" name="Náhled PP-04"/>
          <p:cNvSpPr txBox="1"/>
          <p:nvPr/>
        </p:nvSpPr>
        <p:spPr>
          <a:xfrm>
            <a:off x="7818120" y="30358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PP-04</a:t>
            </a:r>
            <a:endParaRPr lang="en-US" sz="1100" dirty="0"/>
          </a:p>
        </p:txBody>
      </p:sp>
      <p:sp>
        <p:nvSpPr>
          <p:cNvPr id="22" name="Náhled pruh PP-04"/>
          <p:cNvSpPr/>
          <p:nvPr/>
        </p:nvSpPr>
        <p:spPr>
          <a:xfrm>
            <a:off x="8549640" y="3063240"/>
            <a:ext cx="1799352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23" name="Náhled hodnota PP-04"/>
          <p:cNvSpPr txBox="1"/>
          <p:nvPr/>
        </p:nvSpPr>
        <p:spPr>
          <a:xfrm>
            <a:off x="10440432" y="3035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88 %</a:t>
            </a:r>
            <a:endParaRPr lang="en-US" sz="1100" dirty="0"/>
          </a:p>
        </p:txBody>
      </p:sp>
      <p:sp>
        <p:nvSpPr>
          <p:cNvPr id="24" name="Náhled PP-05"/>
          <p:cNvSpPr txBox="1"/>
          <p:nvPr/>
        </p:nvSpPr>
        <p:spPr>
          <a:xfrm>
            <a:off x="7818120" y="3401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PP-05</a:t>
            </a:r>
            <a:endParaRPr lang="en-US" sz="1100" dirty="0"/>
          </a:p>
        </p:txBody>
      </p:sp>
      <p:sp>
        <p:nvSpPr>
          <p:cNvPr id="25" name="Náhled pruh PP-05"/>
          <p:cNvSpPr/>
          <p:nvPr/>
        </p:nvSpPr>
        <p:spPr>
          <a:xfrm>
            <a:off x="8549640" y="3429000"/>
            <a:ext cx="175251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26" name="Náhled hodnota PP-05"/>
          <p:cNvSpPr txBox="1"/>
          <p:nvPr/>
        </p:nvSpPr>
        <p:spPr>
          <a:xfrm>
            <a:off x="10393590" y="3401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87 %</a:t>
            </a:r>
            <a:endParaRPr lang="en-US" sz="1100" dirty="0"/>
          </a:p>
        </p:txBody>
      </p:sp>
      <p:sp>
        <p:nvSpPr>
          <p:cNvPr id="27" name="Náhled PP-06"/>
          <p:cNvSpPr txBox="1"/>
          <p:nvPr/>
        </p:nvSpPr>
        <p:spPr>
          <a:xfrm>
            <a:off x="7818120" y="3767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PP-06</a:t>
            </a:r>
            <a:endParaRPr lang="en-US" sz="1100" dirty="0"/>
          </a:p>
        </p:txBody>
      </p:sp>
      <p:sp>
        <p:nvSpPr>
          <p:cNvPr id="28" name="Náhled pruh PP-06"/>
          <p:cNvSpPr/>
          <p:nvPr/>
        </p:nvSpPr>
        <p:spPr>
          <a:xfrm>
            <a:off x="8549640" y="3794760"/>
            <a:ext cx="1691411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sp>
        <p:nvSpPr>
          <p:cNvPr id="29" name="Náhled hodnota PP-06"/>
          <p:cNvSpPr txBox="1"/>
          <p:nvPr/>
        </p:nvSpPr>
        <p:spPr>
          <a:xfrm>
            <a:off x="10332491" y="3767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87 %</a:t>
            </a:r>
            <a:endParaRPr lang="en-US" sz="1100" dirty="0"/>
          </a:p>
        </p:txBody>
      </p:sp>
      <p:sp>
        <p:nvSpPr>
          <p:cNvPr id="30" name="Náhled PP-07"/>
          <p:cNvSpPr txBox="1"/>
          <p:nvPr/>
        </p:nvSpPr>
        <p:spPr>
          <a:xfrm>
            <a:off x="7818120" y="41330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PP-07</a:t>
            </a:r>
            <a:endParaRPr lang="en-US" sz="1100" dirty="0"/>
          </a:p>
        </p:txBody>
      </p:sp>
      <p:sp>
        <p:nvSpPr>
          <p:cNvPr id="31" name="Náhled pruh PP-07"/>
          <p:cNvSpPr/>
          <p:nvPr/>
        </p:nvSpPr>
        <p:spPr>
          <a:xfrm>
            <a:off x="8549640" y="4160520"/>
            <a:ext cx="154172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sp>
        <p:nvSpPr>
          <p:cNvPr id="32" name="Náhled hodnota PP-07"/>
          <p:cNvSpPr txBox="1"/>
          <p:nvPr/>
        </p:nvSpPr>
        <p:spPr>
          <a:xfrm>
            <a:off x="10182800" y="4133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85 %</a:t>
            </a:r>
            <a:endParaRPr lang="en-US" sz="1100" dirty="0"/>
          </a:p>
        </p:txBody>
      </p:sp>
      <p:sp>
        <p:nvSpPr>
          <p:cNvPr id="33" name="Náhled PP-08"/>
          <p:cNvSpPr txBox="1"/>
          <p:nvPr/>
        </p:nvSpPr>
        <p:spPr>
          <a:xfrm>
            <a:off x="7818120" y="44988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PP-08</a:t>
            </a:r>
            <a:endParaRPr lang="en-US" sz="1100" dirty="0"/>
          </a:p>
        </p:txBody>
      </p:sp>
      <p:sp>
        <p:nvSpPr>
          <p:cNvPr id="34" name="Náhled pruh PP-08"/>
          <p:cNvSpPr/>
          <p:nvPr/>
        </p:nvSpPr>
        <p:spPr>
          <a:xfrm>
            <a:off x="8549640" y="4526280"/>
            <a:ext cx="188489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35" name="Náhled hodnota PP-08"/>
          <p:cNvSpPr txBox="1"/>
          <p:nvPr/>
        </p:nvSpPr>
        <p:spPr>
          <a:xfrm>
            <a:off x="10525970" y="4498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89 %</a:t>
            </a:r>
            <a:endParaRPr lang="en-US" sz="1100" dirty="0"/>
          </a:p>
        </p:txBody>
      </p:sp>
      <p:sp>
        <p:nvSpPr>
          <p:cNvPr id="36" name="Náhled – štítek pozadí"/>
          <p:cNvSpPr/>
          <p:nvPr/>
        </p:nvSpPr>
        <p:spPr>
          <a:xfrm>
            <a:off x="7818120" y="5010912"/>
            <a:ext cx="3520440" cy="411480"/>
          </a:xfrm>
          <a:prstGeom prst="roundRect">
            <a:avLst>
              <a:gd name="adj" fmla="val 17778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Náhled – fajfka – pozadí"/>
          <p:cNvSpPr/>
          <p:nvPr/>
        </p:nvSpPr>
        <p:spPr>
          <a:xfrm>
            <a:off x="7909560" y="5065776"/>
            <a:ext cx="301752" cy="3017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Náhled – fajfka" descr="Náhled – fajfk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998" y="5141214"/>
            <a:ext cx="150876" cy="150876"/>
          </a:xfrm>
          <a:prstGeom prst="rect">
            <a:avLst/>
          </a:prstGeom>
        </p:spPr>
      </p:pic>
      <p:sp>
        <p:nvSpPr>
          <p:cNvPr id="39" name="Náhled – štítek"/>
          <p:cNvSpPr txBox="1"/>
          <p:nvPr/>
        </p:nvSpPr>
        <p:spPr>
          <a:xfrm>
            <a:off x="8302752" y="50109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problémy nalezené automaticky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Data přibývají každou hodinu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Každá balicí linka každou hodinu zapisuje, kolik minut jela, kolik vyrobila, kolik bylo vadných a proč stála.</a:t>
            </a:r>
            <a:endParaRPr lang="en-US" sz="1600" dirty="0"/>
          </a:p>
        </p:txBody>
      </p:sp>
      <p:sp>
        <p:nvSpPr>
          <p:cNvPr id="4" name="Statistika hodinových záznamů"/>
          <p:cNvSpPr/>
          <p:nvPr/>
        </p:nvSpPr>
        <p:spPr>
          <a:xfrm>
            <a:off x="548640" y="1828800"/>
            <a:ext cx="3474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Číslo hodinových záznamů"/>
          <p:cNvSpPr txBox="1"/>
          <p:nvPr/>
        </p:nvSpPr>
        <p:spPr>
          <a:xfrm>
            <a:off x="82296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1 344</a:t>
            </a:r>
            <a:endParaRPr lang="en-US" sz="4400" dirty="0"/>
          </a:p>
        </p:txBody>
      </p:sp>
      <p:sp>
        <p:nvSpPr>
          <p:cNvPr id="6" name="Popis hodinových záznamů"/>
          <p:cNvSpPr txBox="1"/>
          <p:nvPr/>
        </p:nvSpPr>
        <p:spPr>
          <a:xfrm>
            <a:off x="82296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hodinových záznamů</a:t>
            </a:r>
            <a:endParaRPr lang="en-US" sz="1600" dirty="0"/>
          </a:p>
        </p:txBody>
      </p:sp>
      <p:sp>
        <p:nvSpPr>
          <p:cNvPr id="7" name="Poznámka hodinových záznamů"/>
          <p:cNvSpPr txBox="1"/>
          <p:nvPr/>
        </p:nvSpPr>
        <p:spPr>
          <a:xfrm>
            <a:off x="822960" y="3136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za jediný týden</a:t>
            </a:r>
            <a:endParaRPr lang="en-US" sz="1200" dirty="0"/>
          </a:p>
        </p:txBody>
      </p:sp>
      <p:sp>
        <p:nvSpPr>
          <p:cNvPr id="8" name="Statistika zastávek linek"/>
          <p:cNvSpPr/>
          <p:nvPr/>
        </p:nvSpPr>
        <p:spPr>
          <a:xfrm>
            <a:off x="4343400" y="1828800"/>
            <a:ext cx="3474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Číslo zastávek linek"/>
          <p:cNvSpPr txBox="1"/>
          <p:nvPr/>
        </p:nvSpPr>
        <p:spPr>
          <a:xfrm>
            <a:off x="461772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1 283</a:t>
            </a:r>
            <a:endParaRPr lang="en-US" sz="4400" dirty="0"/>
          </a:p>
        </p:txBody>
      </p:sp>
      <p:sp>
        <p:nvSpPr>
          <p:cNvPr id="10" name="Popis zastávek linek"/>
          <p:cNvSpPr txBox="1"/>
          <p:nvPr/>
        </p:nvSpPr>
        <p:spPr>
          <a:xfrm>
            <a:off x="461772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zastávek linek</a:t>
            </a:r>
            <a:endParaRPr lang="en-US" sz="1600" dirty="0"/>
          </a:p>
        </p:txBody>
      </p:sp>
      <p:sp>
        <p:nvSpPr>
          <p:cNvPr id="11" name="Poznámka zastávek linek"/>
          <p:cNvSpPr txBox="1"/>
          <p:nvPr/>
        </p:nvSpPr>
        <p:spPr>
          <a:xfrm>
            <a:off x="4617720" y="3136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každá s důvodem a délkou</a:t>
            </a:r>
            <a:endParaRPr lang="en-US" sz="1200" dirty="0"/>
          </a:p>
        </p:txBody>
      </p:sp>
      <p:sp>
        <p:nvSpPr>
          <p:cNvPr id="12" name="Statistika linek × dní × směn"/>
          <p:cNvSpPr/>
          <p:nvPr/>
        </p:nvSpPr>
        <p:spPr>
          <a:xfrm>
            <a:off x="8138160" y="1828800"/>
            <a:ext cx="3474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Číslo linek × dní × směn"/>
          <p:cNvSpPr txBox="1"/>
          <p:nvPr/>
        </p:nvSpPr>
        <p:spPr>
          <a:xfrm>
            <a:off x="841248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× 7 × 3</a:t>
            </a:r>
            <a:endParaRPr lang="en-US" sz="4400" dirty="0"/>
          </a:p>
        </p:txBody>
      </p:sp>
      <p:sp>
        <p:nvSpPr>
          <p:cNvPr id="14" name="Popis linek × dní × směn"/>
          <p:cNvSpPr txBox="1"/>
          <p:nvPr/>
        </p:nvSpPr>
        <p:spPr>
          <a:xfrm>
            <a:off x="841248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linek × dní × směn</a:t>
            </a:r>
            <a:endParaRPr lang="en-US" sz="1600" dirty="0"/>
          </a:p>
        </p:txBody>
      </p:sp>
      <p:sp>
        <p:nvSpPr>
          <p:cNvPr id="15" name="Poznámka linek × dní × směn"/>
          <p:cNvSpPr txBox="1"/>
          <p:nvPr/>
        </p:nvSpPr>
        <p:spPr>
          <a:xfrm>
            <a:off x="8412480" y="3136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třísměnný provoz</a:t>
            </a:r>
            <a:endParaRPr lang="en-US" sz="1200" dirty="0"/>
          </a:p>
        </p:txBody>
      </p:sp>
      <p:sp>
        <p:nvSpPr>
          <p:cNvPr id="16" name="Problém Ruční procházení tabulek"/>
          <p:cNvSpPr/>
          <p:nvPr/>
        </p:nvSpPr>
        <p:spPr>
          <a:xfrm>
            <a:off x="548640" y="393192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Ikona Ruční procházení tabulek – pozadí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kona Ruční procházení tabulek" descr="Ikona Ruční procházení tabul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4469130"/>
            <a:ext cx="342900" cy="342900"/>
          </a:xfrm>
          <a:prstGeom prst="rect">
            <a:avLst/>
          </a:prstGeom>
        </p:spPr>
      </p:pic>
      <p:sp>
        <p:nvSpPr>
          <p:cNvPr id="19" name="Nadpis Ruční procházení tabulek"/>
          <p:cNvSpPr txBox="1"/>
          <p:nvPr/>
        </p:nvSpPr>
        <p:spPr>
          <a:xfrm>
            <a:off x="1737360" y="4114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Ruční procházení tabulek</a:t>
            </a:r>
            <a:endParaRPr lang="en-US" sz="1800" dirty="0"/>
          </a:p>
        </p:txBody>
      </p:sp>
      <p:sp>
        <p:nvSpPr>
          <p:cNvPr id="20" name="Text Ruční procházení tabulek"/>
          <p:cNvSpPr txBox="1"/>
          <p:nvPr/>
        </p:nvSpPr>
        <p:spPr>
          <a:xfrm>
            <a:off x="1737360" y="44988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 takového množství řádků se to podstatné hledá hodiny.</a:t>
            </a:r>
            <a:endParaRPr lang="en-US" sz="1400" dirty="0"/>
          </a:p>
        </p:txBody>
      </p:sp>
      <p:sp>
        <p:nvSpPr>
          <p:cNvPr id="21" name="Problém Drobné problémy zapadnou"/>
          <p:cNvSpPr/>
          <p:nvPr/>
        </p:nvSpPr>
        <p:spPr>
          <a:xfrm>
            <a:off x="6217920" y="393192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Ikona Drobné problémy zapadnou – pozadí"/>
          <p:cNvSpPr/>
          <p:nvPr/>
        </p:nvSpPr>
        <p:spPr>
          <a:xfrm>
            <a:off x="6492240" y="42976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kona Drobné problémy zapadnou" descr="Ikona Drobné problémy zapadno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4469130"/>
            <a:ext cx="342900" cy="342900"/>
          </a:xfrm>
          <a:prstGeom prst="rect">
            <a:avLst/>
          </a:prstGeom>
        </p:spPr>
      </p:pic>
      <p:sp>
        <p:nvSpPr>
          <p:cNvPr id="24" name="Nadpis Drobné problémy zapadnou"/>
          <p:cNvSpPr txBox="1"/>
          <p:nvPr/>
        </p:nvSpPr>
        <p:spPr>
          <a:xfrm>
            <a:off x="7406640" y="4114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Drobné problémy zapadnou</a:t>
            </a:r>
            <a:endParaRPr lang="en-US" sz="1800" dirty="0"/>
          </a:p>
        </p:txBody>
      </p:sp>
      <p:sp>
        <p:nvSpPr>
          <p:cNvPr id="25" name="Text Drobné problémy zapadnou"/>
          <p:cNvSpPr txBox="1"/>
          <p:nvPr/>
        </p:nvSpPr>
        <p:spPr>
          <a:xfrm>
            <a:off x="7406640" y="44988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Krátké zastávky nebo zmetky na jedné směně se mezi stovkami řádků snadno přehlédnou.</a:t>
            </a:r>
            <a:endParaRPr lang="en-US" sz="1400" dirty="0"/>
          </a:p>
        </p:txBody>
      </p:sp>
      <p:sp>
        <p:nvSpPr>
          <p:cNvPr id="26" name="Inspirace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Inspirace z inzerátu: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aplikace na sledování výkonu linek a automatizace reportů, které se dnes dělají ručně.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Jak to funguje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Dva skripty v Pythonu: jeden data připraví, druhý je vyhodnotí a uloží report.</a:t>
            </a:r>
            <a:endParaRPr lang="en-US" sz="1600" dirty="0"/>
          </a:p>
        </p:txBody>
      </p:sp>
      <p:sp>
        <p:nvSpPr>
          <p:cNvPr id="4" name="Krok Simulace dat"/>
          <p:cNvSpPr/>
          <p:nvPr/>
        </p:nvSpPr>
        <p:spPr>
          <a:xfrm>
            <a:off x="548640" y="178308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Ikona Simulace dat – pozadí"/>
          <p:cNvSpPr/>
          <p:nvPr/>
        </p:nvSpPr>
        <p:spPr>
          <a:xfrm>
            <a:off x="777240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6" name="Ikona Simulace dat" descr="Ikona Simulace d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136404"/>
            <a:ext cx="317480" cy="317480"/>
          </a:xfrm>
          <a:prstGeom prst="rect">
            <a:avLst/>
          </a:prstGeom>
        </p:spPr>
      </p:pic>
      <p:sp>
        <p:nvSpPr>
          <p:cNvPr id="7" name="Číslo kroku Simulace dat"/>
          <p:cNvSpPr txBox="1"/>
          <p:nvPr/>
        </p:nvSpPr>
        <p:spPr>
          <a:xfrm>
            <a:off x="23774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Název Simulace dat"/>
          <p:cNvSpPr txBox="1"/>
          <p:nvPr/>
        </p:nvSpPr>
        <p:spPr>
          <a:xfrm>
            <a:off x="77724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Simulace dat</a:t>
            </a:r>
            <a:endParaRPr lang="en-US" sz="1700" dirty="0"/>
          </a:p>
        </p:txBody>
      </p:sp>
      <p:sp>
        <p:nvSpPr>
          <p:cNvPr id="9" name="Soubor Simulace dat"/>
          <p:cNvSpPr txBox="1"/>
          <p:nvPr/>
        </p:nvSpPr>
        <p:spPr>
          <a:xfrm>
            <a:off x="77724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generuj_data.py</a:t>
            </a:r>
            <a:endParaRPr lang="en-US" sz="1200" dirty="0"/>
          </a:p>
        </p:txBody>
      </p:sp>
      <p:sp>
        <p:nvSpPr>
          <p:cNvPr id="10" name="Popis Simulace dat"/>
          <p:cNvSpPr txBox="1"/>
          <p:nvPr/>
        </p:nvSpPr>
        <p:spPr>
          <a:xfrm>
            <a:off x="777240" y="3520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 linek, 7 dní, 3 směny se třemi schovanými problémy</a:t>
            </a:r>
            <a:endParaRPr lang="en-US" sz="1200" dirty="0"/>
          </a:p>
        </p:txBody>
      </p:sp>
      <p:sp>
        <p:nvSpPr>
          <p:cNvPr id="11" name="Šipka 1"/>
          <p:cNvSpPr/>
          <p:nvPr/>
        </p:nvSpPr>
        <p:spPr>
          <a:xfrm>
            <a:off x="3035808" y="2834640"/>
            <a:ext cx="274320" cy="2743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2" name="Krok CSV soubory"/>
          <p:cNvSpPr/>
          <p:nvPr/>
        </p:nvSpPr>
        <p:spPr>
          <a:xfrm>
            <a:off x="3429000" y="178308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Ikona CSV soubory – pozadí"/>
          <p:cNvSpPr/>
          <p:nvPr/>
        </p:nvSpPr>
        <p:spPr>
          <a:xfrm>
            <a:off x="3657600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14" name="Ikona CSV soubory" descr="Ikona CSV soub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324" y="2136404"/>
            <a:ext cx="317480" cy="317480"/>
          </a:xfrm>
          <a:prstGeom prst="rect">
            <a:avLst/>
          </a:prstGeom>
        </p:spPr>
      </p:pic>
      <p:sp>
        <p:nvSpPr>
          <p:cNvPr id="15" name="Číslo kroku CSV soubory"/>
          <p:cNvSpPr txBox="1"/>
          <p:nvPr/>
        </p:nvSpPr>
        <p:spPr>
          <a:xfrm>
            <a:off x="52578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Název CSV soubory"/>
          <p:cNvSpPr txBox="1"/>
          <p:nvPr/>
        </p:nvSpPr>
        <p:spPr>
          <a:xfrm>
            <a:off x="365760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CSV soubory</a:t>
            </a:r>
            <a:endParaRPr lang="en-US" sz="1700" dirty="0"/>
          </a:p>
        </p:txBody>
      </p:sp>
      <p:sp>
        <p:nvSpPr>
          <p:cNvPr id="17" name="Soubor CSV soubory"/>
          <p:cNvSpPr txBox="1"/>
          <p:nvPr/>
        </p:nvSpPr>
        <p:spPr>
          <a:xfrm>
            <a:off x="365760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vyroba.csv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prostoje.csv</a:t>
            </a:r>
            <a:endParaRPr lang="en-US" sz="1200" dirty="0"/>
          </a:p>
        </p:txBody>
      </p:sp>
      <p:sp>
        <p:nvSpPr>
          <p:cNvPr id="18" name="Popis CSV soubory"/>
          <p:cNvSpPr txBox="1"/>
          <p:nvPr/>
        </p:nvSpPr>
        <p:spPr>
          <a:xfrm>
            <a:off x="3657600" y="3520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výroba po hodinách a jednotlivé zastávky</a:t>
            </a:r>
            <a:endParaRPr lang="en-US" sz="1200" dirty="0"/>
          </a:p>
        </p:txBody>
      </p:sp>
      <p:sp>
        <p:nvSpPr>
          <p:cNvPr id="19" name="Šipka 2"/>
          <p:cNvSpPr/>
          <p:nvPr/>
        </p:nvSpPr>
        <p:spPr>
          <a:xfrm>
            <a:off x="5916168" y="2834640"/>
            <a:ext cx="274320" cy="2743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20" name="Krok Analýza"/>
          <p:cNvSpPr/>
          <p:nvPr/>
        </p:nvSpPr>
        <p:spPr>
          <a:xfrm>
            <a:off x="6309360" y="178308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Ikona Analýza – pozadí"/>
          <p:cNvSpPr/>
          <p:nvPr/>
        </p:nvSpPr>
        <p:spPr>
          <a:xfrm>
            <a:off x="6537960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22" name="Ikona Analýza" descr="Ikona Analýz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684" y="2136404"/>
            <a:ext cx="317480" cy="317480"/>
          </a:xfrm>
          <a:prstGeom prst="rect">
            <a:avLst/>
          </a:prstGeom>
        </p:spPr>
      </p:pic>
      <p:sp>
        <p:nvSpPr>
          <p:cNvPr id="23" name="Číslo kroku Analýza"/>
          <p:cNvSpPr txBox="1"/>
          <p:nvPr/>
        </p:nvSpPr>
        <p:spPr>
          <a:xfrm>
            <a:off x="81381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Název Analýza"/>
          <p:cNvSpPr txBox="1"/>
          <p:nvPr/>
        </p:nvSpPr>
        <p:spPr>
          <a:xfrm>
            <a:off x="653796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Analýza</a:t>
            </a:r>
            <a:endParaRPr lang="en-US" sz="1700" dirty="0"/>
          </a:p>
        </p:txBody>
      </p:sp>
      <p:sp>
        <p:nvSpPr>
          <p:cNvPr id="25" name="Soubor Analýza"/>
          <p:cNvSpPr txBox="1"/>
          <p:nvPr/>
        </p:nvSpPr>
        <p:spPr>
          <a:xfrm>
            <a:off x="653796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analyza.py</a:t>
            </a:r>
            <a:endParaRPr lang="en-US" sz="1200" dirty="0"/>
          </a:p>
        </p:txBody>
      </p:sp>
      <p:sp>
        <p:nvSpPr>
          <p:cNvPr id="26" name="Popis Analýza"/>
          <p:cNvSpPr txBox="1"/>
          <p:nvPr/>
        </p:nvSpPr>
        <p:spPr>
          <a:xfrm>
            <a:off x="6537960" y="3520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SQLite a SQL dotazy, výpočet OEE a čtyři pravidla</a:t>
            </a:r>
            <a:endParaRPr lang="en-US" sz="1200" dirty="0"/>
          </a:p>
        </p:txBody>
      </p:sp>
      <p:sp>
        <p:nvSpPr>
          <p:cNvPr id="27" name="Šipka 3"/>
          <p:cNvSpPr/>
          <p:nvPr/>
        </p:nvSpPr>
        <p:spPr>
          <a:xfrm>
            <a:off x="8796528" y="2834640"/>
            <a:ext cx="274320" cy="2743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28" name="Krok Report"/>
          <p:cNvSpPr/>
          <p:nvPr/>
        </p:nvSpPr>
        <p:spPr>
          <a:xfrm>
            <a:off x="9189720" y="178308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Ikona Report – pozadí"/>
          <p:cNvSpPr/>
          <p:nvPr/>
        </p:nvSpPr>
        <p:spPr>
          <a:xfrm>
            <a:off x="9418320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30" name="Ikona Report" descr="Ikona Re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044" y="2136404"/>
            <a:ext cx="317480" cy="317480"/>
          </a:xfrm>
          <a:prstGeom prst="rect">
            <a:avLst/>
          </a:prstGeom>
        </p:spPr>
      </p:pic>
      <p:sp>
        <p:nvSpPr>
          <p:cNvPr id="31" name="Číslo kroku Report"/>
          <p:cNvSpPr txBox="1"/>
          <p:nvPr/>
        </p:nvSpPr>
        <p:spPr>
          <a:xfrm>
            <a:off x="11018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Název Report"/>
          <p:cNvSpPr txBox="1"/>
          <p:nvPr/>
        </p:nvSpPr>
        <p:spPr>
          <a:xfrm>
            <a:off x="941832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</a:t>
            </a:r>
            <a:endParaRPr lang="en-US" sz="1700" dirty="0"/>
          </a:p>
        </p:txBody>
      </p:sp>
      <p:sp>
        <p:nvSpPr>
          <p:cNvPr id="33" name="Soubor Report"/>
          <p:cNvSpPr txBox="1"/>
          <p:nvPr/>
        </p:nvSpPr>
        <p:spPr>
          <a:xfrm>
            <a:off x="941832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report.html</a:t>
            </a:r>
            <a:endParaRPr lang="en-US" sz="1200" dirty="0"/>
          </a:p>
        </p:txBody>
      </p:sp>
      <p:sp>
        <p:nvSpPr>
          <p:cNvPr id="34" name="Popis Report"/>
          <p:cNvSpPr txBox="1"/>
          <p:nvPr/>
        </p:nvSpPr>
        <p:spPr>
          <a:xfrm>
            <a:off x="9418320" y="3520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seznam problémů, graf a tabulky</a:t>
            </a:r>
            <a:endParaRPr lang="en-US" sz="1200" dirty="0"/>
          </a:p>
        </p:txBody>
      </p:sp>
      <p:sp>
        <p:nvSpPr>
          <p:cNvPr id="35" name="Terminál"/>
          <p:cNvSpPr/>
          <p:nvPr/>
        </p:nvSpPr>
        <p:spPr>
          <a:xfrm>
            <a:off x="548640" y="4526280"/>
            <a:ext cx="69494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rminál – nadpis"/>
          <p:cNvSpPr txBox="1"/>
          <p:nvPr/>
        </p:nvSpPr>
        <p:spPr>
          <a:xfrm>
            <a:off x="82296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Celé spuštění</a:t>
            </a:r>
            <a:endParaRPr lang="en-US" sz="1200" dirty="0"/>
          </a:p>
        </p:txBody>
      </p:sp>
      <p:sp>
        <p:nvSpPr>
          <p:cNvPr id="37" name="Terminál – příkazy"/>
          <p:cNvSpPr txBox="1"/>
          <p:nvPr/>
        </p:nvSpPr>
        <p:spPr>
          <a:xfrm>
            <a:off x="822960" y="4983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generuj_data.py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analyza.py</a:t>
            </a:r>
            <a:endParaRPr lang="en-US" sz="1800" dirty="0"/>
          </a:p>
        </p:txBody>
      </p:sp>
      <p:sp>
        <p:nvSpPr>
          <p:cNvPr id="38" name="Bez instalace"/>
          <p:cNvSpPr/>
          <p:nvPr/>
        </p:nvSpPr>
        <p:spPr>
          <a:xfrm>
            <a:off x="7772400" y="452628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Ikona bez instalace – pozadí"/>
          <p:cNvSpPr/>
          <p:nvPr/>
        </p:nvSpPr>
        <p:spPr>
          <a:xfrm>
            <a:off x="8046720" y="4910328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kona bez instalace" descr="Ikona bez instal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170" y="5081778"/>
            <a:ext cx="342900" cy="342900"/>
          </a:xfrm>
          <a:prstGeom prst="rect">
            <a:avLst/>
          </a:prstGeom>
        </p:spPr>
      </p:pic>
      <p:sp>
        <p:nvSpPr>
          <p:cNvPr id="41" name="Bez instalace – nadpis"/>
          <p:cNvSpPr txBox="1"/>
          <p:nvPr/>
        </p:nvSpPr>
        <p:spPr>
          <a:xfrm>
            <a:off x="891540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Nic se neinstaluje</a:t>
            </a:r>
            <a:endParaRPr lang="en-US" sz="1600" dirty="0"/>
          </a:p>
        </p:txBody>
      </p:sp>
      <p:sp>
        <p:nvSpPr>
          <p:cNvPr id="42" name="Bez instalace – text"/>
          <p:cNvSpPr txBox="1"/>
          <p:nvPr/>
        </p:nvSpPr>
        <p:spPr>
          <a:xfrm>
            <a:off x="8915400" y="5138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jen standardní knihovna Pythonu (csv, sqlite3, statistics)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Tři schválně skryté problémy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Skutečná výrobní data nemám, a tak je skript generuj_data.py nasimuluje.</a:t>
            </a:r>
            <a:endParaRPr lang="en-US" sz="1600" dirty="0"/>
          </a:p>
        </p:txBody>
      </p:sp>
      <p:sp>
        <p:nvSpPr>
          <p:cNvPr id="4" name="Den 2"/>
          <p:cNvSpPr txBox="1"/>
          <p:nvPr/>
        </p:nvSpPr>
        <p:spPr>
          <a:xfrm>
            <a:off x="1837944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15. 10.</a:t>
            </a:r>
            <a:endParaRPr lang="en-US" sz="1000" dirty="0"/>
          </a:p>
        </p:txBody>
      </p:sp>
      <p:sp>
        <p:nvSpPr>
          <p:cNvPr id="5" name="Den 5"/>
          <p:cNvSpPr txBox="1"/>
          <p:nvPr/>
        </p:nvSpPr>
        <p:spPr>
          <a:xfrm>
            <a:off x="2743200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16. 10.</a:t>
            </a:r>
            <a:endParaRPr lang="en-US" sz="1000" dirty="0"/>
          </a:p>
        </p:txBody>
      </p:sp>
      <p:sp>
        <p:nvSpPr>
          <p:cNvPr id="6" name="Den 8"/>
          <p:cNvSpPr txBox="1"/>
          <p:nvPr/>
        </p:nvSpPr>
        <p:spPr>
          <a:xfrm>
            <a:off x="3648456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17. 10.</a:t>
            </a:r>
            <a:endParaRPr lang="en-US" sz="1000" dirty="0"/>
          </a:p>
        </p:txBody>
      </p:sp>
      <p:sp>
        <p:nvSpPr>
          <p:cNvPr id="7" name="Den 11"/>
          <p:cNvSpPr txBox="1"/>
          <p:nvPr/>
        </p:nvSpPr>
        <p:spPr>
          <a:xfrm>
            <a:off x="4553712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18. 10.</a:t>
            </a:r>
            <a:endParaRPr lang="en-US" sz="1000" dirty="0"/>
          </a:p>
        </p:txBody>
      </p:sp>
      <p:sp>
        <p:nvSpPr>
          <p:cNvPr id="8" name="Den 14"/>
          <p:cNvSpPr txBox="1"/>
          <p:nvPr/>
        </p:nvSpPr>
        <p:spPr>
          <a:xfrm>
            <a:off x="5458968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19. 10.</a:t>
            </a:r>
            <a:endParaRPr lang="en-US" sz="1000" dirty="0"/>
          </a:p>
        </p:txBody>
      </p:sp>
      <p:sp>
        <p:nvSpPr>
          <p:cNvPr id="9" name="Den 17"/>
          <p:cNvSpPr txBox="1"/>
          <p:nvPr/>
        </p:nvSpPr>
        <p:spPr>
          <a:xfrm>
            <a:off x="6364224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20. 10.</a:t>
            </a:r>
            <a:endParaRPr lang="en-US" sz="1000" dirty="0"/>
          </a:p>
        </p:txBody>
      </p:sp>
      <p:sp>
        <p:nvSpPr>
          <p:cNvPr id="10" name="Den 20"/>
          <p:cNvSpPr txBox="1"/>
          <p:nvPr/>
        </p:nvSpPr>
        <p:spPr>
          <a:xfrm>
            <a:off x="7269480" y="1764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21. 10.</a:t>
            </a:r>
            <a:endParaRPr lang="en-US" sz="1000" dirty="0"/>
          </a:p>
        </p:txBody>
      </p:sp>
      <p:sp>
        <p:nvSpPr>
          <p:cNvPr id="11" name="Řádek PP-01"/>
          <p:cNvSpPr txBox="1"/>
          <p:nvPr/>
        </p:nvSpPr>
        <p:spPr>
          <a:xfrm>
            <a:off x="548640" y="20574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PP-01</a:t>
            </a:r>
            <a:endParaRPr lang="en-US" sz="1200" dirty="0"/>
          </a:p>
        </p:txBody>
      </p:sp>
      <p:sp>
        <p:nvSpPr>
          <p:cNvPr id="12" name="Směna PP-01 1"/>
          <p:cNvSpPr/>
          <p:nvPr/>
        </p:nvSpPr>
        <p:spPr>
          <a:xfrm>
            <a:off x="1325880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13" name="Směna PP-01 2"/>
          <p:cNvSpPr/>
          <p:nvPr/>
        </p:nvSpPr>
        <p:spPr>
          <a:xfrm>
            <a:off x="1627632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14" name="Směna PP-01 3"/>
          <p:cNvSpPr/>
          <p:nvPr/>
        </p:nvSpPr>
        <p:spPr>
          <a:xfrm>
            <a:off x="1929384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15" name="Směna PP-01 4"/>
          <p:cNvSpPr/>
          <p:nvPr/>
        </p:nvSpPr>
        <p:spPr>
          <a:xfrm>
            <a:off x="2231136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16" name="Směna PP-01 5"/>
          <p:cNvSpPr/>
          <p:nvPr/>
        </p:nvSpPr>
        <p:spPr>
          <a:xfrm>
            <a:off x="2532888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17" name="Směna PP-01 6"/>
          <p:cNvSpPr/>
          <p:nvPr/>
        </p:nvSpPr>
        <p:spPr>
          <a:xfrm>
            <a:off x="2834640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18" name="Směna PP-01 7"/>
          <p:cNvSpPr/>
          <p:nvPr/>
        </p:nvSpPr>
        <p:spPr>
          <a:xfrm>
            <a:off x="3136392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9" name="Směna PP-01 8"/>
          <p:cNvSpPr/>
          <p:nvPr/>
        </p:nvSpPr>
        <p:spPr>
          <a:xfrm>
            <a:off x="3438144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1000"/>
            </a:schemeClr>
          </a:solidFill>
          <a:ln/>
        </p:spPr>
      </p:sp>
      <p:sp>
        <p:nvSpPr>
          <p:cNvPr id="20" name="Směna PP-01 9"/>
          <p:cNvSpPr/>
          <p:nvPr/>
        </p:nvSpPr>
        <p:spPr>
          <a:xfrm>
            <a:off x="3739896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2000"/>
            </a:schemeClr>
          </a:solidFill>
          <a:ln/>
        </p:spPr>
      </p:sp>
      <p:sp>
        <p:nvSpPr>
          <p:cNvPr id="21" name="Směna PP-01 10"/>
          <p:cNvSpPr/>
          <p:nvPr/>
        </p:nvSpPr>
        <p:spPr>
          <a:xfrm>
            <a:off x="4041648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22" name="Směna PP-01 11"/>
          <p:cNvSpPr/>
          <p:nvPr/>
        </p:nvSpPr>
        <p:spPr>
          <a:xfrm>
            <a:off x="4343400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23" name="Směna PP-01 12"/>
          <p:cNvSpPr/>
          <p:nvPr/>
        </p:nvSpPr>
        <p:spPr>
          <a:xfrm>
            <a:off x="4645152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24" name="Směna PP-01 13"/>
          <p:cNvSpPr/>
          <p:nvPr/>
        </p:nvSpPr>
        <p:spPr>
          <a:xfrm>
            <a:off x="4946904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9000"/>
            </a:schemeClr>
          </a:solidFill>
          <a:ln/>
        </p:spPr>
      </p:sp>
      <p:sp>
        <p:nvSpPr>
          <p:cNvPr id="25" name="Směna PP-01 14"/>
          <p:cNvSpPr/>
          <p:nvPr/>
        </p:nvSpPr>
        <p:spPr>
          <a:xfrm>
            <a:off x="5248656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1000"/>
            </a:schemeClr>
          </a:solidFill>
          <a:ln/>
        </p:spPr>
      </p:sp>
      <p:sp>
        <p:nvSpPr>
          <p:cNvPr id="26" name="Směna PP-01 15"/>
          <p:cNvSpPr/>
          <p:nvPr/>
        </p:nvSpPr>
        <p:spPr>
          <a:xfrm>
            <a:off x="5550408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3000"/>
            </a:schemeClr>
          </a:solidFill>
          <a:ln/>
        </p:spPr>
      </p:sp>
      <p:sp>
        <p:nvSpPr>
          <p:cNvPr id="27" name="Směna PP-01 16"/>
          <p:cNvSpPr/>
          <p:nvPr/>
        </p:nvSpPr>
        <p:spPr>
          <a:xfrm>
            <a:off x="5852160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28" name="Směna PP-01 17"/>
          <p:cNvSpPr/>
          <p:nvPr/>
        </p:nvSpPr>
        <p:spPr>
          <a:xfrm>
            <a:off x="6153912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29" name="Směna PP-01 18"/>
          <p:cNvSpPr/>
          <p:nvPr/>
        </p:nvSpPr>
        <p:spPr>
          <a:xfrm>
            <a:off x="6455664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30" name="Směna PP-01 19"/>
          <p:cNvSpPr/>
          <p:nvPr/>
        </p:nvSpPr>
        <p:spPr>
          <a:xfrm>
            <a:off x="6757416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31" name="Směna PP-01 20"/>
          <p:cNvSpPr/>
          <p:nvPr/>
        </p:nvSpPr>
        <p:spPr>
          <a:xfrm>
            <a:off x="7059168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32" name="Směna PP-01 21"/>
          <p:cNvSpPr/>
          <p:nvPr/>
        </p:nvSpPr>
        <p:spPr>
          <a:xfrm>
            <a:off x="7360920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4000"/>
            </a:schemeClr>
          </a:solidFill>
          <a:ln/>
        </p:spPr>
      </p:sp>
      <p:sp>
        <p:nvSpPr>
          <p:cNvPr id="33" name="Směna PP-01 22"/>
          <p:cNvSpPr/>
          <p:nvPr/>
        </p:nvSpPr>
        <p:spPr>
          <a:xfrm>
            <a:off x="7662672" y="205740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34" name="Řádek PP-02"/>
          <p:cNvSpPr txBox="1"/>
          <p:nvPr/>
        </p:nvSpPr>
        <p:spPr>
          <a:xfrm>
            <a:off x="548640" y="23591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PP-02</a:t>
            </a:r>
            <a:endParaRPr lang="en-US" sz="1200" dirty="0"/>
          </a:p>
        </p:txBody>
      </p:sp>
      <p:sp>
        <p:nvSpPr>
          <p:cNvPr id="35" name="Směna PP-02 1"/>
          <p:cNvSpPr/>
          <p:nvPr/>
        </p:nvSpPr>
        <p:spPr>
          <a:xfrm>
            <a:off x="1325880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3000"/>
            </a:schemeClr>
          </a:solidFill>
          <a:ln/>
        </p:spPr>
      </p:sp>
      <p:sp>
        <p:nvSpPr>
          <p:cNvPr id="36" name="Směna PP-02 2"/>
          <p:cNvSpPr/>
          <p:nvPr/>
        </p:nvSpPr>
        <p:spPr>
          <a:xfrm>
            <a:off x="1627632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37" name="Směna PP-02 3"/>
          <p:cNvSpPr/>
          <p:nvPr/>
        </p:nvSpPr>
        <p:spPr>
          <a:xfrm>
            <a:off x="1929384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7000"/>
            </a:schemeClr>
          </a:solidFill>
          <a:ln/>
        </p:spPr>
      </p:sp>
      <p:sp>
        <p:nvSpPr>
          <p:cNvPr id="38" name="Směna PP-02 4"/>
          <p:cNvSpPr/>
          <p:nvPr/>
        </p:nvSpPr>
        <p:spPr>
          <a:xfrm>
            <a:off x="2231136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39" name="Směna PP-02 5"/>
          <p:cNvSpPr/>
          <p:nvPr/>
        </p:nvSpPr>
        <p:spPr>
          <a:xfrm>
            <a:off x="2532888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8000"/>
            </a:schemeClr>
          </a:solidFill>
          <a:ln/>
        </p:spPr>
      </p:sp>
      <p:sp>
        <p:nvSpPr>
          <p:cNvPr id="40" name="Směna PP-02 6"/>
          <p:cNvSpPr/>
          <p:nvPr/>
        </p:nvSpPr>
        <p:spPr>
          <a:xfrm>
            <a:off x="2834640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1000"/>
            </a:schemeClr>
          </a:solidFill>
          <a:ln/>
        </p:spPr>
      </p:sp>
      <p:sp>
        <p:nvSpPr>
          <p:cNvPr id="41" name="Směna PP-02 7"/>
          <p:cNvSpPr/>
          <p:nvPr/>
        </p:nvSpPr>
        <p:spPr>
          <a:xfrm>
            <a:off x="3136392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42" name="Směna PP-02 8"/>
          <p:cNvSpPr/>
          <p:nvPr/>
        </p:nvSpPr>
        <p:spPr>
          <a:xfrm>
            <a:off x="3438144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43" name="Směna PP-02 9"/>
          <p:cNvSpPr/>
          <p:nvPr/>
        </p:nvSpPr>
        <p:spPr>
          <a:xfrm>
            <a:off x="3739896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2000"/>
            </a:schemeClr>
          </a:solidFill>
          <a:ln/>
        </p:spPr>
      </p:sp>
      <p:sp>
        <p:nvSpPr>
          <p:cNvPr id="44" name="Směna PP-02 10"/>
          <p:cNvSpPr/>
          <p:nvPr/>
        </p:nvSpPr>
        <p:spPr>
          <a:xfrm>
            <a:off x="4041648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45" name="Směna PP-02 11"/>
          <p:cNvSpPr/>
          <p:nvPr/>
        </p:nvSpPr>
        <p:spPr>
          <a:xfrm>
            <a:off x="4343400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46" name="Směna PP-02 12"/>
          <p:cNvSpPr/>
          <p:nvPr/>
        </p:nvSpPr>
        <p:spPr>
          <a:xfrm>
            <a:off x="4645152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7" name="Směna PP-02 13"/>
          <p:cNvSpPr/>
          <p:nvPr/>
        </p:nvSpPr>
        <p:spPr>
          <a:xfrm>
            <a:off x="4946904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2000"/>
            </a:schemeClr>
          </a:solidFill>
          <a:ln/>
        </p:spPr>
      </p:sp>
      <p:sp>
        <p:nvSpPr>
          <p:cNvPr id="48" name="Směna PP-02 14"/>
          <p:cNvSpPr/>
          <p:nvPr/>
        </p:nvSpPr>
        <p:spPr>
          <a:xfrm>
            <a:off x="5248656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49" name="Směna PP-02 15"/>
          <p:cNvSpPr/>
          <p:nvPr/>
        </p:nvSpPr>
        <p:spPr>
          <a:xfrm>
            <a:off x="5550408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50" name="Směna PP-02 16"/>
          <p:cNvSpPr/>
          <p:nvPr/>
        </p:nvSpPr>
        <p:spPr>
          <a:xfrm>
            <a:off x="5852160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51" name="Směna PP-02 17"/>
          <p:cNvSpPr/>
          <p:nvPr/>
        </p:nvSpPr>
        <p:spPr>
          <a:xfrm>
            <a:off x="6153912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52" name="Směna PP-02 18"/>
          <p:cNvSpPr/>
          <p:nvPr/>
        </p:nvSpPr>
        <p:spPr>
          <a:xfrm>
            <a:off x="6455664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3" name="Směna PP-02 19"/>
          <p:cNvSpPr/>
          <p:nvPr/>
        </p:nvSpPr>
        <p:spPr>
          <a:xfrm>
            <a:off x="6757416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4" name="Směna PP-02 20"/>
          <p:cNvSpPr/>
          <p:nvPr/>
        </p:nvSpPr>
        <p:spPr>
          <a:xfrm>
            <a:off x="7059168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55" name="Směna PP-02 21"/>
          <p:cNvSpPr/>
          <p:nvPr/>
        </p:nvSpPr>
        <p:spPr>
          <a:xfrm>
            <a:off x="7360920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56" name="Směna PP-02 22"/>
          <p:cNvSpPr/>
          <p:nvPr/>
        </p:nvSpPr>
        <p:spPr>
          <a:xfrm>
            <a:off x="7662672" y="235915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38000"/>
            </a:schemeClr>
          </a:solidFill>
          <a:ln/>
        </p:spPr>
      </p:sp>
      <p:sp>
        <p:nvSpPr>
          <p:cNvPr id="57" name="Řádek PP-03"/>
          <p:cNvSpPr txBox="1"/>
          <p:nvPr/>
        </p:nvSpPr>
        <p:spPr>
          <a:xfrm>
            <a:off x="548640" y="26609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PP-03</a:t>
            </a:r>
            <a:endParaRPr lang="en-US" sz="1200" dirty="0"/>
          </a:p>
        </p:txBody>
      </p:sp>
      <p:sp>
        <p:nvSpPr>
          <p:cNvPr id="58" name="Směna PP-03 1"/>
          <p:cNvSpPr/>
          <p:nvPr/>
        </p:nvSpPr>
        <p:spPr>
          <a:xfrm>
            <a:off x="1325880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59" name="Směna PP-03 2"/>
          <p:cNvSpPr/>
          <p:nvPr/>
        </p:nvSpPr>
        <p:spPr>
          <a:xfrm>
            <a:off x="1627632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0" name="Směna PP-03 3"/>
          <p:cNvSpPr/>
          <p:nvPr/>
        </p:nvSpPr>
        <p:spPr>
          <a:xfrm>
            <a:off x="1929384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1" name="Směna PP-03 4"/>
          <p:cNvSpPr/>
          <p:nvPr/>
        </p:nvSpPr>
        <p:spPr>
          <a:xfrm>
            <a:off x="2231136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2" name="Směna PP-03 5"/>
          <p:cNvSpPr/>
          <p:nvPr/>
        </p:nvSpPr>
        <p:spPr>
          <a:xfrm>
            <a:off x="2532888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3" name="Směna PP-03 6"/>
          <p:cNvSpPr/>
          <p:nvPr/>
        </p:nvSpPr>
        <p:spPr>
          <a:xfrm>
            <a:off x="2834640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4" name="Směna PP-03 7"/>
          <p:cNvSpPr/>
          <p:nvPr/>
        </p:nvSpPr>
        <p:spPr>
          <a:xfrm>
            <a:off x="3136392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5" name="Směna PP-03 8"/>
          <p:cNvSpPr/>
          <p:nvPr/>
        </p:nvSpPr>
        <p:spPr>
          <a:xfrm>
            <a:off x="3438144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6" name="Směna PP-03 9"/>
          <p:cNvSpPr/>
          <p:nvPr/>
        </p:nvSpPr>
        <p:spPr>
          <a:xfrm>
            <a:off x="3739896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7" name="Směna PP-03 10"/>
          <p:cNvSpPr/>
          <p:nvPr/>
        </p:nvSpPr>
        <p:spPr>
          <a:xfrm>
            <a:off x="4041648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8" name="Směna PP-03 11"/>
          <p:cNvSpPr/>
          <p:nvPr/>
        </p:nvSpPr>
        <p:spPr>
          <a:xfrm>
            <a:off x="4343400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69" name="Směna PP-03 12"/>
          <p:cNvSpPr/>
          <p:nvPr/>
        </p:nvSpPr>
        <p:spPr>
          <a:xfrm>
            <a:off x="4645152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0" name="Směna PP-03 13"/>
          <p:cNvSpPr/>
          <p:nvPr/>
        </p:nvSpPr>
        <p:spPr>
          <a:xfrm>
            <a:off x="4946904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1" name="Směna PP-03 14"/>
          <p:cNvSpPr/>
          <p:nvPr/>
        </p:nvSpPr>
        <p:spPr>
          <a:xfrm>
            <a:off x="5248656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2" name="Směna PP-03 15"/>
          <p:cNvSpPr/>
          <p:nvPr/>
        </p:nvSpPr>
        <p:spPr>
          <a:xfrm>
            <a:off x="5550408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3" name="Směna PP-03 16"/>
          <p:cNvSpPr/>
          <p:nvPr/>
        </p:nvSpPr>
        <p:spPr>
          <a:xfrm>
            <a:off x="5852160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4" name="Směna PP-03 17"/>
          <p:cNvSpPr/>
          <p:nvPr/>
        </p:nvSpPr>
        <p:spPr>
          <a:xfrm>
            <a:off x="6153912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5" name="Směna PP-03 18"/>
          <p:cNvSpPr/>
          <p:nvPr/>
        </p:nvSpPr>
        <p:spPr>
          <a:xfrm>
            <a:off x="6455664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6" name="Směna PP-03 19"/>
          <p:cNvSpPr/>
          <p:nvPr/>
        </p:nvSpPr>
        <p:spPr>
          <a:xfrm>
            <a:off x="6757416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7" name="Směna PP-03 20"/>
          <p:cNvSpPr/>
          <p:nvPr/>
        </p:nvSpPr>
        <p:spPr>
          <a:xfrm>
            <a:off x="7059168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8" name="Směna PP-03 21"/>
          <p:cNvSpPr/>
          <p:nvPr/>
        </p:nvSpPr>
        <p:spPr>
          <a:xfrm>
            <a:off x="7360920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79" name="Směna PP-03 22"/>
          <p:cNvSpPr/>
          <p:nvPr/>
        </p:nvSpPr>
        <p:spPr>
          <a:xfrm>
            <a:off x="7662672" y="266090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80" name="Řádek PP-04"/>
          <p:cNvSpPr txBox="1"/>
          <p:nvPr/>
        </p:nvSpPr>
        <p:spPr>
          <a:xfrm>
            <a:off x="548640" y="29626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PP-04</a:t>
            </a:r>
            <a:endParaRPr lang="en-US" sz="1200" dirty="0"/>
          </a:p>
        </p:txBody>
      </p:sp>
      <p:sp>
        <p:nvSpPr>
          <p:cNvPr id="81" name="Směna PP-04 1"/>
          <p:cNvSpPr/>
          <p:nvPr/>
        </p:nvSpPr>
        <p:spPr>
          <a:xfrm>
            <a:off x="1325880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82" name="Směna PP-04 2"/>
          <p:cNvSpPr/>
          <p:nvPr/>
        </p:nvSpPr>
        <p:spPr>
          <a:xfrm>
            <a:off x="1627632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83" name="Směna PP-04 3"/>
          <p:cNvSpPr/>
          <p:nvPr/>
        </p:nvSpPr>
        <p:spPr>
          <a:xfrm>
            <a:off x="1929384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84" name="Směna PP-04 4"/>
          <p:cNvSpPr/>
          <p:nvPr/>
        </p:nvSpPr>
        <p:spPr>
          <a:xfrm>
            <a:off x="2231136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2000"/>
            </a:schemeClr>
          </a:solidFill>
          <a:ln/>
        </p:spPr>
      </p:sp>
      <p:sp>
        <p:nvSpPr>
          <p:cNvPr id="85" name="Směna PP-04 5"/>
          <p:cNvSpPr/>
          <p:nvPr/>
        </p:nvSpPr>
        <p:spPr>
          <a:xfrm>
            <a:off x="2532888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86" name="Směna PP-04 6"/>
          <p:cNvSpPr/>
          <p:nvPr/>
        </p:nvSpPr>
        <p:spPr>
          <a:xfrm>
            <a:off x="2834640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87" name="Směna PP-04 7"/>
          <p:cNvSpPr/>
          <p:nvPr/>
        </p:nvSpPr>
        <p:spPr>
          <a:xfrm>
            <a:off x="3136392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3000"/>
            </a:schemeClr>
          </a:solidFill>
          <a:ln/>
        </p:spPr>
      </p:sp>
      <p:sp>
        <p:nvSpPr>
          <p:cNvPr id="88" name="Směna PP-04 8"/>
          <p:cNvSpPr/>
          <p:nvPr/>
        </p:nvSpPr>
        <p:spPr>
          <a:xfrm>
            <a:off x="3438144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3000"/>
            </a:schemeClr>
          </a:solidFill>
          <a:ln/>
        </p:spPr>
      </p:sp>
      <p:sp>
        <p:nvSpPr>
          <p:cNvPr id="89" name="Směna PP-04 9"/>
          <p:cNvSpPr/>
          <p:nvPr/>
        </p:nvSpPr>
        <p:spPr>
          <a:xfrm>
            <a:off x="3739896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90" name="Směna PP-04 10"/>
          <p:cNvSpPr/>
          <p:nvPr/>
        </p:nvSpPr>
        <p:spPr>
          <a:xfrm>
            <a:off x="4041648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4000"/>
            </a:schemeClr>
          </a:solidFill>
          <a:ln/>
        </p:spPr>
      </p:sp>
      <p:sp>
        <p:nvSpPr>
          <p:cNvPr id="91" name="Směna PP-04 11"/>
          <p:cNvSpPr/>
          <p:nvPr/>
        </p:nvSpPr>
        <p:spPr>
          <a:xfrm>
            <a:off x="4343400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2000"/>
            </a:schemeClr>
          </a:solidFill>
          <a:ln/>
        </p:spPr>
      </p:sp>
      <p:sp>
        <p:nvSpPr>
          <p:cNvPr id="92" name="Směna PP-04 12"/>
          <p:cNvSpPr/>
          <p:nvPr/>
        </p:nvSpPr>
        <p:spPr>
          <a:xfrm>
            <a:off x="4645152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93" name="Směna PP-04 13"/>
          <p:cNvSpPr/>
          <p:nvPr/>
        </p:nvSpPr>
        <p:spPr>
          <a:xfrm>
            <a:off x="4946904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94" name="Směna PP-04 14"/>
          <p:cNvSpPr/>
          <p:nvPr/>
        </p:nvSpPr>
        <p:spPr>
          <a:xfrm>
            <a:off x="5248656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5" name="Směna PP-04 15"/>
          <p:cNvSpPr/>
          <p:nvPr/>
        </p:nvSpPr>
        <p:spPr>
          <a:xfrm>
            <a:off x="5550408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96" name="Směna PP-04 16"/>
          <p:cNvSpPr/>
          <p:nvPr/>
        </p:nvSpPr>
        <p:spPr>
          <a:xfrm>
            <a:off x="5852160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97" name="Směna PP-04 17"/>
          <p:cNvSpPr/>
          <p:nvPr/>
        </p:nvSpPr>
        <p:spPr>
          <a:xfrm>
            <a:off x="6153912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98" name="Směna PP-04 18"/>
          <p:cNvSpPr/>
          <p:nvPr/>
        </p:nvSpPr>
        <p:spPr>
          <a:xfrm>
            <a:off x="6455664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99" name="Směna PP-04 19"/>
          <p:cNvSpPr/>
          <p:nvPr/>
        </p:nvSpPr>
        <p:spPr>
          <a:xfrm>
            <a:off x="6757416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9000"/>
            </a:schemeClr>
          </a:solidFill>
          <a:ln/>
        </p:spPr>
      </p:sp>
      <p:sp>
        <p:nvSpPr>
          <p:cNvPr id="100" name="Směna PP-04 20"/>
          <p:cNvSpPr/>
          <p:nvPr/>
        </p:nvSpPr>
        <p:spPr>
          <a:xfrm>
            <a:off x="7059168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3000"/>
            </a:schemeClr>
          </a:solidFill>
          <a:ln/>
        </p:spPr>
      </p:sp>
      <p:sp>
        <p:nvSpPr>
          <p:cNvPr id="101" name="Směna PP-04 21"/>
          <p:cNvSpPr/>
          <p:nvPr/>
        </p:nvSpPr>
        <p:spPr>
          <a:xfrm>
            <a:off x="7360920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102" name="Směna PP-04 22"/>
          <p:cNvSpPr/>
          <p:nvPr/>
        </p:nvSpPr>
        <p:spPr>
          <a:xfrm>
            <a:off x="7662672" y="2962656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03" name="Řádek PP-05"/>
          <p:cNvSpPr txBox="1"/>
          <p:nvPr/>
        </p:nvSpPr>
        <p:spPr>
          <a:xfrm>
            <a:off x="548640" y="32644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PP-05</a:t>
            </a:r>
            <a:endParaRPr lang="en-US" sz="1200" dirty="0"/>
          </a:p>
        </p:txBody>
      </p:sp>
      <p:sp>
        <p:nvSpPr>
          <p:cNvPr id="104" name="Směna PP-05 1"/>
          <p:cNvSpPr/>
          <p:nvPr/>
        </p:nvSpPr>
        <p:spPr>
          <a:xfrm>
            <a:off x="1325880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05" name="Směna PP-05 2"/>
          <p:cNvSpPr/>
          <p:nvPr/>
        </p:nvSpPr>
        <p:spPr>
          <a:xfrm>
            <a:off x="1627632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2000"/>
            </a:schemeClr>
          </a:solidFill>
          <a:ln/>
        </p:spPr>
      </p:sp>
      <p:sp>
        <p:nvSpPr>
          <p:cNvPr id="106" name="Směna PP-05 3"/>
          <p:cNvSpPr/>
          <p:nvPr/>
        </p:nvSpPr>
        <p:spPr>
          <a:xfrm>
            <a:off x="1929384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107" name="Směna PP-05 4"/>
          <p:cNvSpPr/>
          <p:nvPr/>
        </p:nvSpPr>
        <p:spPr>
          <a:xfrm>
            <a:off x="2231136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108" name="Směna PP-05 5"/>
          <p:cNvSpPr/>
          <p:nvPr/>
        </p:nvSpPr>
        <p:spPr>
          <a:xfrm>
            <a:off x="2532888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109" name="Směna PP-05 6"/>
          <p:cNvSpPr/>
          <p:nvPr/>
        </p:nvSpPr>
        <p:spPr>
          <a:xfrm>
            <a:off x="2834640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1000"/>
            </a:schemeClr>
          </a:solidFill>
          <a:ln/>
        </p:spPr>
      </p:sp>
      <p:sp>
        <p:nvSpPr>
          <p:cNvPr id="110" name="Směna PP-05 7"/>
          <p:cNvSpPr/>
          <p:nvPr/>
        </p:nvSpPr>
        <p:spPr>
          <a:xfrm>
            <a:off x="3136392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111" name="Směna PP-05 8"/>
          <p:cNvSpPr/>
          <p:nvPr/>
        </p:nvSpPr>
        <p:spPr>
          <a:xfrm>
            <a:off x="3438144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112" name="Směna PP-05 9"/>
          <p:cNvSpPr/>
          <p:nvPr/>
        </p:nvSpPr>
        <p:spPr>
          <a:xfrm>
            <a:off x="3739896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13" name="Směna PP-05 10"/>
          <p:cNvSpPr/>
          <p:nvPr/>
        </p:nvSpPr>
        <p:spPr>
          <a:xfrm>
            <a:off x="4041648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114" name="Směna PP-05 11"/>
          <p:cNvSpPr/>
          <p:nvPr/>
        </p:nvSpPr>
        <p:spPr>
          <a:xfrm>
            <a:off x="4343400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115" name="Směna PP-05 12"/>
          <p:cNvSpPr/>
          <p:nvPr/>
        </p:nvSpPr>
        <p:spPr>
          <a:xfrm>
            <a:off x="4645152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8000"/>
            </a:schemeClr>
          </a:solidFill>
          <a:ln/>
        </p:spPr>
      </p:sp>
      <p:sp>
        <p:nvSpPr>
          <p:cNvPr id="116" name="Směna PP-05 13"/>
          <p:cNvSpPr/>
          <p:nvPr/>
        </p:nvSpPr>
        <p:spPr>
          <a:xfrm>
            <a:off x="4946904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1000"/>
            </a:schemeClr>
          </a:solidFill>
          <a:ln/>
        </p:spPr>
      </p:sp>
      <p:sp>
        <p:nvSpPr>
          <p:cNvPr id="117" name="Směna PP-05 14"/>
          <p:cNvSpPr/>
          <p:nvPr/>
        </p:nvSpPr>
        <p:spPr>
          <a:xfrm>
            <a:off x="5248656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118" name="Směna PP-05 15"/>
          <p:cNvSpPr/>
          <p:nvPr/>
        </p:nvSpPr>
        <p:spPr>
          <a:xfrm>
            <a:off x="5550408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119" name="Směna PP-05 16"/>
          <p:cNvSpPr/>
          <p:nvPr/>
        </p:nvSpPr>
        <p:spPr>
          <a:xfrm>
            <a:off x="5852160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120" name="Směna PP-05 17"/>
          <p:cNvSpPr/>
          <p:nvPr/>
        </p:nvSpPr>
        <p:spPr>
          <a:xfrm>
            <a:off x="6153912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1000"/>
            </a:schemeClr>
          </a:solidFill>
          <a:ln/>
        </p:spPr>
      </p:sp>
      <p:sp>
        <p:nvSpPr>
          <p:cNvPr id="121" name="Směna PP-05 18"/>
          <p:cNvSpPr/>
          <p:nvPr/>
        </p:nvSpPr>
        <p:spPr>
          <a:xfrm>
            <a:off x="6455664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9000"/>
            </a:schemeClr>
          </a:solidFill>
          <a:ln/>
        </p:spPr>
      </p:sp>
      <p:sp>
        <p:nvSpPr>
          <p:cNvPr id="122" name="Směna PP-05 19"/>
          <p:cNvSpPr/>
          <p:nvPr/>
        </p:nvSpPr>
        <p:spPr>
          <a:xfrm>
            <a:off x="6757416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123" name="Směna PP-05 20"/>
          <p:cNvSpPr/>
          <p:nvPr/>
        </p:nvSpPr>
        <p:spPr>
          <a:xfrm>
            <a:off x="7059168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9000"/>
            </a:schemeClr>
          </a:solidFill>
          <a:ln/>
        </p:spPr>
      </p:sp>
      <p:sp>
        <p:nvSpPr>
          <p:cNvPr id="124" name="Směna PP-05 21"/>
          <p:cNvSpPr/>
          <p:nvPr/>
        </p:nvSpPr>
        <p:spPr>
          <a:xfrm>
            <a:off x="7360920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1000"/>
            </a:schemeClr>
          </a:solidFill>
          <a:ln/>
        </p:spPr>
      </p:sp>
      <p:sp>
        <p:nvSpPr>
          <p:cNvPr id="125" name="Směna PP-05 22"/>
          <p:cNvSpPr/>
          <p:nvPr/>
        </p:nvSpPr>
        <p:spPr>
          <a:xfrm>
            <a:off x="7662672" y="3264408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126" name="Řádek PP-06"/>
          <p:cNvSpPr txBox="1"/>
          <p:nvPr/>
        </p:nvSpPr>
        <p:spPr>
          <a:xfrm>
            <a:off x="548640" y="35661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PP-06</a:t>
            </a:r>
            <a:endParaRPr lang="en-US" sz="1200" dirty="0"/>
          </a:p>
        </p:txBody>
      </p:sp>
      <p:sp>
        <p:nvSpPr>
          <p:cNvPr id="127" name="Směna PP-06 1"/>
          <p:cNvSpPr/>
          <p:nvPr/>
        </p:nvSpPr>
        <p:spPr>
          <a:xfrm>
            <a:off x="1325880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6000"/>
            </a:schemeClr>
          </a:solidFill>
          <a:ln/>
        </p:spPr>
      </p:sp>
      <p:sp>
        <p:nvSpPr>
          <p:cNvPr id="128" name="Směna PP-06 2"/>
          <p:cNvSpPr/>
          <p:nvPr/>
        </p:nvSpPr>
        <p:spPr>
          <a:xfrm>
            <a:off x="1627632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29" name="Směna PP-06 3"/>
          <p:cNvSpPr/>
          <p:nvPr/>
        </p:nvSpPr>
        <p:spPr>
          <a:xfrm>
            <a:off x="1929384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3000"/>
            </a:schemeClr>
          </a:solidFill>
          <a:ln/>
        </p:spPr>
      </p:sp>
      <p:sp>
        <p:nvSpPr>
          <p:cNvPr id="130" name="Směna PP-06 4"/>
          <p:cNvSpPr/>
          <p:nvPr/>
        </p:nvSpPr>
        <p:spPr>
          <a:xfrm>
            <a:off x="2231136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131" name="Směna PP-06 5"/>
          <p:cNvSpPr/>
          <p:nvPr/>
        </p:nvSpPr>
        <p:spPr>
          <a:xfrm>
            <a:off x="2532888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32" name="Směna PP-06 6"/>
          <p:cNvSpPr/>
          <p:nvPr/>
        </p:nvSpPr>
        <p:spPr>
          <a:xfrm>
            <a:off x="2834640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8000"/>
            </a:schemeClr>
          </a:solidFill>
          <a:ln/>
        </p:spPr>
      </p:sp>
      <p:sp>
        <p:nvSpPr>
          <p:cNvPr id="133" name="Směna PP-06 7"/>
          <p:cNvSpPr/>
          <p:nvPr/>
        </p:nvSpPr>
        <p:spPr>
          <a:xfrm>
            <a:off x="3136392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34" name="Směna PP-06 8"/>
          <p:cNvSpPr/>
          <p:nvPr/>
        </p:nvSpPr>
        <p:spPr>
          <a:xfrm>
            <a:off x="3438144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35" name="Směna PP-06 9"/>
          <p:cNvSpPr/>
          <p:nvPr/>
        </p:nvSpPr>
        <p:spPr>
          <a:xfrm>
            <a:off x="3739896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1000"/>
            </a:schemeClr>
          </a:solidFill>
          <a:ln/>
        </p:spPr>
      </p:sp>
      <p:sp>
        <p:nvSpPr>
          <p:cNvPr id="136" name="Směna PP-06 10"/>
          <p:cNvSpPr/>
          <p:nvPr/>
        </p:nvSpPr>
        <p:spPr>
          <a:xfrm>
            <a:off x="4041648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6000"/>
            </a:schemeClr>
          </a:solidFill>
          <a:ln/>
        </p:spPr>
      </p:sp>
      <p:sp>
        <p:nvSpPr>
          <p:cNvPr id="137" name="Směna PP-06 11"/>
          <p:cNvSpPr/>
          <p:nvPr/>
        </p:nvSpPr>
        <p:spPr>
          <a:xfrm>
            <a:off x="4343400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38" name="Směna PP-06 12"/>
          <p:cNvSpPr/>
          <p:nvPr/>
        </p:nvSpPr>
        <p:spPr>
          <a:xfrm>
            <a:off x="4645152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139" name="Směna PP-06 13"/>
          <p:cNvSpPr/>
          <p:nvPr/>
        </p:nvSpPr>
        <p:spPr>
          <a:xfrm>
            <a:off x="4946904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40" name="Směna PP-06 14"/>
          <p:cNvSpPr/>
          <p:nvPr/>
        </p:nvSpPr>
        <p:spPr>
          <a:xfrm>
            <a:off x="5248656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41" name="Směna PP-06 15"/>
          <p:cNvSpPr/>
          <p:nvPr/>
        </p:nvSpPr>
        <p:spPr>
          <a:xfrm>
            <a:off x="5550408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142" name="Směna PP-06 16"/>
          <p:cNvSpPr/>
          <p:nvPr/>
        </p:nvSpPr>
        <p:spPr>
          <a:xfrm>
            <a:off x="5852160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7000"/>
            </a:schemeClr>
          </a:solidFill>
          <a:ln/>
        </p:spPr>
      </p:sp>
      <p:sp>
        <p:nvSpPr>
          <p:cNvPr id="143" name="Směna PP-06 17"/>
          <p:cNvSpPr/>
          <p:nvPr/>
        </p:nvSpPr>
        <p:spPr>
          <a:xfrm>
            <a:off x="6153912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44" name="Směna PP-06 18"/>
          <p:cNvSpPr/>
          <p:nvPr/>
        </p:nvSpPr>
        <p:spPr>
          <a:xfrm>
            <a:off x="6455664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145" name="Směna PP-06 19"/>
          <p:cNvSpPr/>
          <p:nvPr/>
        </p:nvSpPr>
        <p:spPr>
          <a:xfrm>
            <a:off x="6757416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146" name="Směna PP-06 20"/>
          <p:cNvSpPr/>
          <p:nvPr/>
        </p:nvSpPr>
        <p:spPr>
          <a:xfrm>
            <a:off x="7059168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4"/>
          </a:solidFill>
          <a:ln/>
        </p:spPr>
      </p:sp>
      <p:sp>
        <p:nvSpPr>
          <p:cNvPr id="147" name="Směna PP-06 21"/>
          <p:cNvSpPr/>
          <p:nvPr/>
        </p:nvSpPr>
        <p:spPr>
          <a:xfrm>
            <a:off x="7360920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148" name="Směna PP-06 22"/>
          <p:cNvSpPr/>
          <p:nvPr/>
        </p:nvSpPr>
        <p:spPr>
          <a:xfrm>
            <a:off x="7662672" y="3566160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149" name="Řádek PP-07"/>
          <p:cNvSpPr txBox="1"/>
          <p:nvPr/>
        </p:nvSpPr>
        <p:spPr>
          <a:xfrm>
            <a:off x="548640" y="386791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PP-07</a:t>
            </a:r>
            <a:endParaRPr lang="en-US" sz="1200" dirty="0"/>
          </a:p>
        </p:txBody>
      </p:sp>
      <p:sp>
        <p:nvSpPr>
          <p:cNvPr id="150" name="Směna PP-07 1"/>
          <p:cNvSpPr/>
          <p:nvPr/>
        </p:nvSpPr>
        <p:spPr>
          <a:xfrm>
            <a:off x="1325880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51" name="Směna PP-07 2"/>
          <p:cNvSpPr/>
          <p:nvPr/>
        </p:nvSpPr>
        <p:spPr>
          <a:xfrm>
            <a:off x="1627632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4000"/>
            </a:schemeClr>
          </a:solidFill>
          <a:ln/>
        </p:spPr>
      </p:sp>
      <p:sp>
        <p:nvSpPr>
          <p:cNvPr id="152" name="Směna PP-07 3"/>
          <p:cNvSpPr/>
          <p:nvPr/>
        </p:nvSpPr>
        <p:spPr>
          <a:xfrm>
            <a:off x="1929384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1000"/>
            </a:schemeClr>
          </a:solidFill>
          <a:ln/>
        </p:spPr>
      </p:sp>
      <p:sp>
        <p:nvSpPr>
          <p:cNvPr id="153" name="Směna PP-07 4"/>
          <p:cNvSpPr/>
          <p:nvPr/>
        </p:nvSpPr>
        <p:spPr>
          <a:xfrm>
            <a:off x="2231136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4000"/>
            </a:schemeClr>
          </a:solidFill>
          <a:ln/>
        </p:spPr>
      </p:sp>
      <p:sp>
        <p:nvSpPr>
          <p:cNvPr id="154" name="Směna PP-07 5"/>
          <p:cNvSpPr/>
          <p:nvPr/>
        </p:nvSpPr>
        <p:spPr>
          <a:xfrm>
            <a:off x="2532888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155" name="Směna PP-07 6"/>
          <p:cNvSpPr/>
          <p:nvPr/>
        </p:nvSpPr>
        <p:spPr>
          <a:xfrm>
            <a:off x="2834640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6000"/>
            </a:schemeClr>
          </a:solidFill>
          <a:ln/>
        </p:spPr>
      </p:sp>
      <p:sp>
        <p:nvSpPr>
          <p:cNvPr id="156" name="Směna PP-07 7"/>
          <p:cNvSpPr/>
          <p:nvPr/>
        </p:nvSpPr>
        <p:spPr>
          <a:xfrm>
            <a:off x="3136392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157" name="Směna PP-07 8"/>
          <p:cNvSpPr/>
          <p:nvPr/>
        </p:nvSpPr>
        <p:spPr>
          <a:xfrm>
            <a:off x="3438144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3"/>
          </a:solidFill>
          <a:ln/>
        </p:spPr>
      </p:sp>
      <p:sp>
        <p:nvSpPr>
          <p:cNvPr id="158" name="Směna PP-07 9"/>
          <p:cNvSpPr/>
          <p:nvPr/>
        </p:nvSpPr>
        <p:spPr>
          <a:xfrm>
            <a:off x="3739896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3"/>
          </a:solidFill>
          <a:ln/>
        </p:spPr>
      </p:sp>
      <p:sp>
        <p:nvSpPr>
          <p:cNvPr id="159" name="Směna PP-07 10"/>
          <p:cNvSpPr/>
          <p:nvPr/>
        </p:nvSpPr>
        <p:spPr>
          <a:xfrm>
            <a:off x="4041648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160" name="Směna PP-07 11"/>
          <p:cNvSpPr/>
          <p:nvPr/>
        </p:nvSpPr>
        <p:spPr>
          <a:xfrm>
            <a:off x="4343400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3000"/>
            </a:schemeClr>
          </a:solidFill>
          <a:ln/>
        </p:spPr>
      </p:sp>
      <p:sp>
        <p:nvSpPr>
          <p:cNvPr id="161" name="Směna PP-07 12"/>
          <p:cNvSpPr/>
          <p:nvPr/>
        </p:nvSpPr>
        <p:spPr>
          <a:xfrm>
            <a:off x="4645152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162" name="Směna PP-07 13"/>
          <p:cNvSpPr/>
          <p:nvPr/>
        </p:nvSpPr>
        <p:spPr>
          <a:xfrm>
            <a:off x="4946904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163" name="Směna PP-07 14"/>
          <p:cNvSpPr/>
          <p:nvPr/>
        </p:nvSpPr>
        <p:spPr>
          <a:xfrm>
            <a:off x="5248656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7000"/>
            </a:schemeClr>
          </a:solidFill>
          <a:ln/>
        </p:spPr>
      </p:sp>
      <p:sp>
        <p:nvSpPr>
          <p:cNvPr id="164" name="Směna PP-07 15"/>
          <p:cNvSpPr/>
          <p:nvPr/>
        </p:nvSpPr>
        <p:spPr>
          <a:xfrm>
            <a:off x="5550408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2000"/>
            </a:schemeClr>
          </a:solidFill>
          <a:ln/>
        </p:spPr>
      </p:sp>
      <p:sp>
        <p:nvSpPr>
          <p:cNvPr id="165" name="Směna PP-07 16"/>
          <p:cNvSpPr/>
          <p:nvPr/>
        </p:nvSpPr>
        <p:spPr>
          <a:xfrm>
            <a:off x="5852160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4000"/>
            </a:schemeClr>
          </a:solidFill>
          <a:ln/>
        </p:spPr>
      </p:sp>
      <p:sp>
        <p:nvSpPr>
          <p:cNvPr id="166" name="Směna PP-07 17"/>
          <p:cNvSpPr/>
          <p:nvPr/>
        </p:nvSpPr>
        <p:spPr>
          <a:xfrm>
            <a:off x="6153912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9000"/>
            </a:schemeClr>
          </a:solidFill>
          <a:ln/>
        </p:spPr>
      </p:sp>
      <p:sp>
        <p:nvSpPr>
          <p:cNvPr id="167" name="Směna PP-07 18"/>
          <p:cNvSpPr/>
          <p:nvPr/>
        </p:nvSpPr>
        <p:spPr>
          <a:xfrm>
            <a:off x="6455664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168" name="Směna PP-07 19"/>
          <p:cNvSpPr/>
          <p:nvPr/>
        </p:nvSpPr>
        <p:spPr>
          <a:xfrm>
            <a:off x="6757416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169" name="Směna PP-07 20"/>
          <p:cNvSpPr/>
          <p:nvPr/>
        </p:nvSpPr>
        <p:spPr>
          <a:xfrm>
            <a:off x="7059168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8000"/>
            </a:schemeClr>
          </a:solidFill>
          <a:ln/>
        </p:spPr>
      </p:sp>
      <p:sp>
        <p:nvSpPr>
          <p:cNvPr id="170" name="Směna PP-07 21"/>
          <p:cNvSpPr/>
          <p:nvPr/>
        </p:nvSpPr>
        <p:spPr>
          <a:xfrm>
            <a:off x="7360920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1000"/>
            </a:schemeClr>
          </a:solidFill>
          <a:ln/>
        </p:spPr>
      </p:sp>
      <p:sp>
        <p:nvSpPr>
          <p:cNvPr id="171" name="Směna PP-07 22"/>
          <p:cNvSpPr/>
          <p:nvPr/>
        </p:nvSpPr>
        <p:spPr>
          <a:xfrm>
            <a:off x="7662672" y="3867912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1000"/>
            </a:schemeClr>
          </a:solidFill>
          <a:ln/>
        </p:spPr>
      </p:sp>
      <p:sp>
        <p:nvSpPr>
          <p:cNvPr id="172" name="Řádek PP-08"/>
          <p:cNvSpPr txBox="1"/>
          <p:nvPr/>
        </p:nvSpPr>
        <p:spPr>
          <a:xfrm>
            <a:off x="548640" y="416966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PP-08</a:t>
            </a:r>
            <a:endParaRPr lang="en-US" sz="1200" dirty="0"/>
          </a:p>
        </p:txBody>
      </p:sp>
      <p:sp>
        <p:nvSpPr>
          <p:cNvPr id="173" name="Směna PP-08 1"/>
          <p:cNvSpPr/>
          <p:nvPr/>
        </p:nvSpPr>
        <p:spPr>
          <a:xfrm>
            <a:off x="1325880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174" name="Směna PP-08 2"/>
          <p:cNvSpPr/>
          <p:nvPr/>
        </p:nvSpPr>
        <p:spPr>
          <a:xfrm>
            <a:off x="1627632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75" name="Směna PP-08 3"/>
          <p:cNvSpPr/>
          <p:nvPr/>
        </p:nvSpPr>
        <p:spPr>
          <a:xfrm>
            <a:off x="1929384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176" name="Směna PP-08 4"/>
          <p:cNvSpPr/>
          <p:nvPr/>
        </p:nvSpPr>
        <p:spPr>
          <a:xfrm>
            <a:off x="2231136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7000"/>
            </a:schemeClr>
          </a:solidFill>
          <a:ln/>
        </p:spPr>
      </p:sp>
      <p:sp>
        <p:nvSpPr>
          <p:cNvPr id="177" name="Směna PP-08 5"/>
          <p:cNvSpPr/>
          <p:nvPr/>
        </p:nvSpPr>
        <p:spPr>
          <a:xfrm>
            <a:off x="2532888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6000"/>
            </a:schemeClr>
          </a:solidFill>
          <a:ln/>
        </p:spPr>
      </p:sp>
      <p:sp>
        <p:nvSpPr>
          <p:cNvPr id="178" name="Směna PP-08 6"/>
          <p:cNvSpPr/>
          <p:nvPr/>
        </p:nvSpPr>
        <p:spPr>
          <a:xfrm>
            <a:off x="2834640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1000"/>
            </a:schemeClr>
          </a:solidFill>
          <a:ln/>
        </p:spPr>
      </p:sp>
      <p:sp>
        <p:nvSpPr>
          <p:cNvPr id="179" name="Směna PP-08 7"/>
          <p:cNvSpPr/>
          <p:nvPr/>
        </p:nvSpPr>
        <p:spPr>
          <a:xfrm>
            <a:off x="3136392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80" name="Směna PP-08 8"/>
          <p:cNvSpPr/>
          <p:nvPr/>
        </p:nvSpPr>
        <p:spPr>
          <a:xfrm>
            <a:off x="3438144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81" name="Směna PP-08 9"/>
          <p:cNvSpPr/>
          <p:nvPr/>
        </p:nvSpPr>
        <p:spPr>
          <a:xfrm>
            <a:off x="3739896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2000"/>
            </a:schemeClr>
          </a:solidFill>
          <a:ln/>
        </p:spPr>
      </p:sp>
      <p:sp>
        <p:nvSpPr>
          <p:cNvPr id="182" name="Směna PP-08 10"/>
          <p:cNvSpPr/>
          <p:nvPr/>
        </p:nvSpPr>
        <p:spPr>
          <a:xfrm>
            <a:off x="4041648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183" name="Směna PP-08 11"/>
          <p:cNvSpPr/>
          <p:nvPr/>
        </p:nvSpPr>
        <p:spPr>
          <a:xfrm>
            <a:off x="4343400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3000"/>
            </a:schemeClr>
          </a:solidFill>
          <a:ln/>
        </p:spPr>
      </p:sp>
      <p:sp>
        <p:nvSpPr>
          <p:cNvPr id="184" name="Směna PP-08 12"/>
          <p:cNvSpPr/>
          <p:nvPr/>
        </p:nvSpPr>
        <p:spPr>
          <a:xfrm>
            <a:off x="4645152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185" name="Směna PP-08 13"/>
          <p:cNvSpPr/>
          <p:nvPr/>
        </p:nvSpPr>
        <p:spPr>
          <a:xfrm>
            <a:off x="4946904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186" name="Směna PP-08 14"/>
          <p:cNvSpPr/>
          <p:nvPr/>
        </p:nvSpPr>
        <p:spPr>
          <a:xfrm>
            <a:off x="5248656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187" name="Směna PP-08 15"/>
          <p:cNvSpPr/>
          <p:nvPr/>
        </p:nvSpPr>
        <p:spPr>
          <a:xfrm>
            <a:off x="5550408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3000"/>
            </a:schemeClr>
          </a:solidFill>
          <a:ln/>
        </p:spPr>
      </p:sp>
      <p:sp>
        <p:nvSpPr>
          <p:cNvPr id="188" name="Směna PP-08 16"/>
          <p:cNvSpPr/>
          <p:nvPr/>
        </p:nvSpPr>
        <p:spPr>
          <a:xfrm>
            <a:off x="5852160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8000"/>
            </a:schemeClr>
          </a:solidFill>
          <a:ln/>
        </p:spPr>
      </p:sp>
      <p:sp>
        <p:nvSpPr>
          <p:cNvPr id="189" name="Směna PP-08 17"/>
          <p:cNvSpPr/>
          <p:nvPr/>
        </p:nvSpPr>
        <p:spPr>
          <a:xfrm>
            <a:off x="6153912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190" name="Směna PP-08 18"/>
          <p:cNvSpPr/>
          <p:nvPr/>
        </p:nvSpPr>
        <p:spPr>
          <a:xfrm>
            <a:off x="6455664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91" name="Směna PP-08 19"/>
          <p:cNvSpPr/>
          <p:nvPr/>
        </p:nvSpPr>
        <p:spPr>
          <a:xfrm>
            <a:off x="6757416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1000"/>
            </a:schemeClr>
          </a:solidFill>
          <a:ln/>
        </p:spPr>
      </p:sp>
      <p:sp>
        <p:nvSpPr>
          <p:cNvPr id="192" name="Směna PP-08 20"/>
          <p:cNvSpPr/>
          <p:nvPr/>
        </p:nvSpPr>
        <p:spPr>
          <a:xfrm>
            <a:off x="7059168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93" name="Směna PP-08 21"/>
          <p:cNvSpPr/>
          <p:nvPr/>
        </p:nvSpPr>
        <p:spPr>
          <a:xfrm>
            <a:off x="7360920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94" name="Směna PP-08 22"/>
          <p:cNvSpPr/>
          <p:nvPr/>
        </p:nvSpPr>
        <p:spPr>
          <a:xfrm>
            <a:off x="7662672" y="4169664"/>
            <a:ext cx="246888" cy="246888"/>
          </a:xfrm>
          <a:prstGeom prst="roundRect">
            <a:avLst>
              <a:gd name="adj" fmla="val 14815"/>
            </a:avLst>
          </a:prstGeom>
          <a:solidFill>
            <a:schemeClr val="accent2">
              <a:alpha val="43000"/>
            </a:schemeClr>
          </a:solidFill>
          <a:ln/>
        </p:spPr>
      </p:sp>
      <p:sp>
        <p:nvSpPr>
          <p:cNvPr id="195" name="Legenda mřížky"/>
          <p:cNvSpPr txBox="1"/>
          <p:nvPr/>
        </p:nvSpPr>
        <p:spPr>
          <a:xfrm>
            <a:off x="1325880" y="45445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Jeden čtvereček = jedna směna jedné linky, zelená podle OEE</a:t>
            </a:r>
            <a:endParaRPr lang="en-US" sz="1100" dirty="0"/>
          </a:p>
        </p:txBody>
      </p:sp>
      <p:sp>
        <p:nvSpPr>
          <p:cNvPr id="196" name="Problém PP-03 · Chyba váhy"/>
          <p:cNvSpPr/>
          <p:nvPr/>
        </p:nvSpPr>
        <p:spPr>
          <a:xfrm>
            <a:off x="8412480" y="178308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7" name="Ikona PP-03 · Chyba váhy – pozadí"/>
          <p:cNvSpPr/>
          <p:nvPr/>
        </p:nvSpPr>
        <p:spPr>
          <a:xfrm>
            <a:off x="859536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8" name="Ikona PP-03 · Chyba váhy" descr="Ikona PP-03 · Chyba vá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148840"/>
            <a:ext cx="274320" cy="274320"/>
          </a:xfrm>
          <a:prstGeom prst="rect">
            <a:avLst/>
          </a:prstGeom>
        </p:spPr>
      </p:pic>
      <p:sp>
        <p:nvSpPr>
          <p:cNvPr id="199" name="Nadpis PP-03 · Chyba váhy"/>
          <p:cNvSpPr txBox="1"/>
          <p:nvPr/>
        </p:nvSpPr>
        <p:spPr>
          <a:xfrm>
            <a:off x="9281160" y="19385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PP-03 · Chyba váhy</a:t>
            </a:r>
            <a:endParaRPr lang="en-US" sz="1400" dirty="0"/>
          </a:p>
        </p:txBody>
      </p:sp>
      <p:sp>
        <p:nvSpPr>
          <p:cNvPr id="200" name="Text PP-03 · Chyba váhy"/>
          <p:cNvSpPr txBox="1"/>
          <p:nvPr/>
        </p:nvSpPr>
        <p:spPr>
          <a:xfrm>
            <a:off x="928116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váha se zasekává několikrát za hodinu</a:t>
            </a:r>
            <a:endParaRPr lang="en-US" sz="1200" dirty="0"/>
          </a:p>
        </p:txBody>
      </p:sp>
      <p:sp>
        <p:nvSpPr>
          <p:cNvPr id="201" name="Problém PP-06 · Noční směna"/>
          <p:cNvSpPr/>
          <p:nvPr/>
        </p:nvSpPr>
        <p:spPr>
          <a:xfrm>
            <a:off x="8412480" y="297180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2" name="Ikona PP-06 · Noční směna – pozadí"/>
          <p:cNvSpPr/>
          <p:nvPr/>
        </p:nvSpPr>
        <p:spPr>
          <a:xfrm>
            <a:off x="8595360" y="32004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3" name="Ikona PP-06 · Noční směna" descr="Ikona PP-06 · Noční smě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337560"/>
            <a:ext cx="274320" cy="274320"/>
          </a:xfrm>
          <a:prstGeom prst="rect">
            <a:avLst/>
          </a:prstGeom>
        </p:spPr>
      </p:pic>
      <p:sp>
        <p:nvSpPr>
          <p:cNvPr id="204" name="Nadpis PP-06 · Noční směna"/>
          <p:cNvSpPr txBox="1"/>
          <p:nvPr/>
        </p:nvSpPr>
        <p:spPr>
          <a:xfrm>
            <a:off x="9281160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PP-06 · Noční směna</a:t>
            </a:r>
            <a:endParaRPr lang="en-US" sz="1400" dirty="0"/>
          </a:p>
        </p:txBody>
      </p:sp>
      <p:sp>
        <p:nvSpPr>
          <p:cNvPr id="205" name="Text PP-06 · Noční směna"/>
          <p:cNvSpPr txBox="1"/>
          <p:nvPr/>
        </p:nvSpPr>
        <p:spPr>
          <a:xfrm>
            <a:off x="928116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 noci víc vadných sáčků</a:t>
            </a:r>
            <a:endParaRPr lang="en-US" sz="1200" dirty="0"/>
          </a:p>
        </p:txBody>
      </p:sp>
      <p:sp>
        <p:nvSpPr>
          <p:cNvPr id="206" name="Problém PP-07 · Porucha podavače"/>
          <p:cNvSpPr/>
          <p:nvPr/>
        </p:nvSpPr>
        <p:spPr>
          <a:xfrm>
            <a:off x="8412480" y="41605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7" name="Ikona PP-07 · Porucha podavače – pozadí"/>
          <p:cNvSpPr/>
          <p:nvPr/>
        </p:nvSpPr>
        <p:spPr>
          <a:xfrm>
            <a:off x="8595360" y="4389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8" name="Ikona PP-07 · Porucha podavače" descr="Ikona PP-07 · Porucha podavač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526280"/>
            <a:ext cx="274320" cy="274320"/>
          </a:xfrm>
          <a:prstGeom prst="rect">
            <a:avLst/>
          </a:prstGeom>
        </p:spPr>
      </p:pic>
      <p:sp>
        <p:nvSpPr>
          <p:cNvPr id="209" name="Nadpis PP-07 · Porucha podavače"/>
          <p:cNvSpPr txBox="1"/>
          <p:nvPr/>
        </p:nvSpPr>
        <p:spPr>
          <a:xfrm>
            <a:off x="9281160" y="43159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PP-07 · Porucha podavače</a:t>
            </a:r>
            <a:endParaRPr lang="en-US" sz="1400" dirty="0"/>
          </a:p>
        </p:txBody>
      </p:sp>
      <p:sp>
        <p:nvSpPr>
          <p:cNvPr id="210" name="Text PP-07 · Porucha podavače"/>
          <p:cNvSpPr txBox="1"/>
          <p:nvPr/>
        </p:nvSpPr>
        <p:spPr>
          <a:xfrm>
            <a:off x="9281160" y="4663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jedna porucha, 5 hodin v kuse</a:t>
            </a:r>
            <a:endParaRPr lang="en-US" sz="1200" dirty="0"/>
          </a:p>
        </p:txBody>
      </p:sp>
      <p:sp>
        <p:nvSpPr>
          <p:cNvPr id="211" name="Úkol pro analýzu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2" name="Úkol pro analýzu – text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Úkol pro analýzu: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najít všechny tři problémy sama, bez nápovědy.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OEE: jedno číslo na linku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Celková efektivita zařízení (Overall Equipment Effectiveness), příklad linky PP-01 za celý týden.</a:t>
            </a:r>
            <a:endParaRPr lang="en-US" sz="1600" dirty="0"/>
          </a:p>
        </p:txBody>
      </p:sp>
      <p:sp>
        <p:nvSpPr>
          <p:cNvPr id="4" name="Složka DOSTUPNOST"/>
          <p:cNvSpPr/>
          <p:nvPr/>
        </p:nvSpPr>
        <p:spPr>
          <a:xfrm>
            <a:off x="548640" y="1783080"/>
            <a:ext cx="2377440" cy="30632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Název DOSTUPNOST"/>
          <p:cNvSpPr txBox="1"/>
          <p:nvPr/>
        </p:nvSpPr>
        <p:spPr>
          <a:xfrm>
            <a:off x="7772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DOSTUPNOST</a:t>
            </a:r>
            <a:endParaRPr lang="en-US" sz="1500" dirty="0"/>
          </a:p>
        </p:txBody>
      </p:sp>
      <p:sp>
        <p:nvSpPr>
          <p:cNvPr id="6" name="Hodnota DOSTUPNOST"/>
          <p:cNvSpPr txBox="1"/>
          <p:nvPr/>
        </p:nvSpPr>
        <p:spPr>
          <a:xfrm>
            <a:off x="77724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96 %</a:t>
            </a:r>
            <a:endParaRPr lang="en-US" sz="3800" dirty="0"/>
          </a:p>
        </p:txBody>
      </p:sp>
      <p:sp>
        <p:nvSpPr>
          <p:cNvPr id="7" name="Popis DOSTUPNOST"/>
          <p:cNvSpPr txBox="1"/>
          <p:nvPr/>
        </p:nvSpPr>
        <p:spPr>
          <a:xfrm>
            <a:off x="777240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jak dlouho linka opravdu jela z plánovaného času</a:t>
            </a:r>
            <a:endParaRPr lang="en-US" sz="1400" dirty="0"/>
          </a:p>
        </p:txBody>
      </p:sp>
      <p:sp>
        <p:nvSpPr>
          <p:cNvPr id="8" name="Vzorec DOSTUPNOST"/>
          <p:cNvSpPr txBox="1"/>
          <p:nvPr/>
        </p:nvSpPr>
        <p:spPr>
          <a:xfrm>
            <a:off x="77724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běží / plánováno</a:t>
            </a:r>
            <a:endParaRPr lang="en-US" sz="1100" dirty="0"/>
          </a:p>
        </p:txBody>
      </p:sp>
      <p:sp>
        <p:nvSpPr>
          <p:cNvPr id="9" name="Operátor 1"/>
          <p:cNvSpPr txBox="1"/>
          <p:nvPr/>
        </p:nvSpPr>
        <p:spPr>
          <a:xfrm>
            <a:off x="292608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Složka VÝKON"/>
          <p:cNvSpPr/>
          <p:nvPr/>
        </p:nvSpPr>
        <p:spPr>
          <a:xfrm>
            <a:off x="3383280" y="1783080"/>
            <a:ext cx="2377440" cy="30632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Název VÝKON"/>
          <p:cNvSpPr txBox="1"/>
          <p:nvPr/>
        </p:nvSpPr>
        <p:spPr>
          <a:xfrm>
            <a:off x="36118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VÝKON</a:t>
            </a:r>
            <a:endParaRPr lang="en-US" sz="1500" dirty="0"/>
          </a:p>
        </p:txBody>
      </p:sp>
      <p:sp>
        <p:nvSpPr>
          <p:cNvPr id="12" name="Hodnota VÝKON"/>
          <p:cNvSpPr txBox="1"/>
          <p:nvPr/>
        </p:nvSpPr>
        <p:spPr>
          <a:xfrm>
            <a:off x="361188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92 %</a:t>
            </a:r>
            <a:endParaRPr lang="en-US" sz="3800" dirty="0"/>
          </a:p>
        </p:txBody>
      </p:sp>
      <p:sp>
        <p:nvSpPr>
          <p:cNvPr id="13" name="Popis VÝKON"/>
          <p:cNvSpPr txBox="1"/>
          <p:nvPr/>
        </p:nvSpPr>
        <p:spPr>
          <a:xfrm>
            <a:off x="3611880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kolik vyrobila oproti cíli 40 sáčků za minutu</a:t>
            </a:r>
            <a:endParaRPr lang="en-US" sz="1400" dirty="0"/>
          </a:p>
        </p:txBody>
      </p:sp>
      <p:sp>
        <p:nvSpPr>
          <p:cNvPr id="14" name="Vzorec VÝKON"/>
          <p:cNvSpPr txBox="1"/>
          <p:nvPr/>
        </p:nvSpPr>
        <p:spPr>
          <a:xfrm>
            <a:off x="361188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vyrobeno / (běží × 40)</a:t>
            </a:r>
            <a:endParaRPr lang="en-US" sz="1100" dirty="0"/>
          </a:p>
        </p:txBody>
      </p:sp>
      <p:sp>
        <p:nvSpPr>
          <p:cNvPr id="15" name="Operátor 2"/>
          <p:cNvSpPr txBox="1"/>
          <p:nvPr/>
        </p:nvSpPr>
        <p:spPr>
          <a:xfrm>
            <a:off x="57607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×</a:t>
            </a:r>
            <a:endParaRPr lang="en-US" sz="3000" dirty="0"/>
          </a:p>
        </p:txBody>
      </p:sp>
      <p:sp>
        <p:nvSpPr>
          <p:cNvPr id="16" name="Složka KVALITA"/>
          <p:cNvSpPr/>
          <p:nvPr/>
        </p:nvSpPr>
        <p:spPr>
          <a:xfrm>
            <a:off x="6217920" y="1783080"/>
            <a:ext cx="2377440" cy="30632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Název KVALITA"/>
          <p:cNvSpPr txBox="1"/>
          <p:nvPr/>
        </p:nvSpPr>
        <p:spPr>
          <a:xfrm>
            <a:off x="64465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KVALITA</a:t>
            </a:r>
            <a:endParaRPr lang="en-US" sz="1500" dirty="0"/>
          </a:p>
        </p:txBody>
      </p:sp>
      <p:sp>
        <p:nvSpPr>
          <p:cNvPr id="18" name="Hodnota KVALITA"/>
          <p:cNvSpPr txBox="1"/>
          <p:nvPr/>
        </p:nvSpPr>
        <p:spPr>
          <a:xfrm>
            <a:off x="644652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99,4 %</a:t>
            </a:r>
            <a:endParaRPr lang="en-US" sz="3800" dirty="0"/>
          </a:p>
        </p:txBody>
      </p:sp>
      <p:sp>
        <p:nvSpPr>
          <p:cNvPr id="19" name="Popis KVALITA"/>
          <p:cNvSpPr txBox="1"/>
          <p:nvPr/>
        </p:nvSpPr>
        <p:spPr>
          <a:xfrm>
            <a:off x="6446520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jaký podíl sáčků byl v pořádku</a:t>
            </a:r>
            <a:endParaRPr lang="en-US" sz="1400" dirty="0"/>
          </a:p>
        </p:txBody>
      </p:sp>
      <p:sp>
        <p:nvSpPr>
          <p:cNvPr id="20" name="Vzorec KVALITA"/>
          <p:cNvSpPr txBox="1"/>
          <p:nvPr/>
        </p:nvSpPr>
        <p:spPr>
          <a:xfrm>
            <a:off x="644652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dobré / vyrobeno</a:t>
            </a:r>
            <a:endParaRPr lang="en-US" sz="1100" dirty="0"/>
          </a:p>
        </p:txBody>
      </p:sp>
      <p:sp>
        <p:nvSpPr>
          <p:cNvPr id="21" name="Operátor 3"/>
          <p:cNvSpPr txBox="1"/>
          <p:nvPr/>
        </p:nvSpPr>
        <p:spPr>
          <a:xfrm>
            <a:off x="859536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=</a:t>
            </a:r>
            <a:endParaRPr lang="en-US" sz="3000" dirty="0"/>
          </a:p>
        </p:txBody>
      </p:sp>
      <p:sp>
        <p:nvSpPr>
          <p:cNvPr id="22" name="Výsledek OEE"/>
          <p:cNvSpPr/>
          <p:nvPr/>
        </p:nvSpPr>
        <p:spPr>
          <a:xfrm>
            <a:off x="9052560" y="178308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Výsledek OEE – název"/>
          <p:cNvSpPr txBox="1"/>
          <p:nvPr/>
        </p:nvSpPr>
        <p:spPr>
          <a:xfrm>
            <a:off x="905256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OEE</a:t>
            </a:r>
            <a:endParaRPr lang="en-US" sz="2200" dirty="0"/>
          </a:p>
        </p:txBody>
      </p:sp>
      <p:sp>
        <p:nvSpPr>
          <p:cNvPr id="24" name="Výsledek OEE – hodnota"/>
          <p:cNvSpPr txBox="1"/>
          <p:nvPr/>
        </p:nvSpPr>
        <p:spPr>
          <a:xfrm>
            <a:off x="9052560" y="2697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88 %</a:t>
            </a:r>
            <a:endParaRPr lang="en-US" sz="6000" dirty="0"/>
          </a:p>
        </p:txBody>
      </p:sp>
      <p:sp>
        <p:nvSpPr>
          <p:cNvPr id="25" name="Výsledek OEE – popis"/>
          <p:cNvSpPr txBox="1"/>
          <p:nvPr/>
        </p:nvSpPr>
        <p:spPr>
          <a:xfrm>
            <a:off x="90525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linka PP-01</a:t>
            </a:r>
            <a:endParaRPr lang="en-US" sz="1400" dirty="0"/>
          </a:p>
        </p:txBody>
      </p:sp>
      <p:sp>
        <p:nvSpPr>
          <p:cNvPr id="26" name="Všechny linky – popisek"/>
          <p:cNvSpPr txBox="1"/>
          <p:nvPr/>
        </p:nvSpPr>
        <p:spPr>
          <a:xfrm>
            <a:off x="548640" y="5257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Všech 8 linek:</a:t>
            </a:r>
            <a:endParaRPr lang="en-US" sz="1400" dirty="0"/>
          </a:p>
        </p:txBody>
      </p:sp>
      <p:sp>
        <p:nvSpPr>
          <p:cNvPr id="27" name="Linka PP-01"/>
          <p:cNvSpPr/>
          <p:nvPr/>
        </p:nvSpPr>
        <p:spPr>
          <a:xfrm>
            <a:off x="2011680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Linka název PP-01"/>
          <p:cNvSpPr txBox="1"/>
          <p:nvPr/>
        </p:nvSpPr>
        <p:spPr>
          <a:xfrm>
            <a:off x="2011680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PP-01</a:t>
            </a:r>
            <a:endParaRPr lang="en-US" sz="1100" dirty="0"/>
          </a:p>
        </p:txBody>
      </p:sp>
      <p:sp>
        <p:nvSpPr>
          <p:cNvPr id="29" name="Linka OEE PP-01"/>
          <p:cNvSpPr txBox="1"/>
          <p:nvPr/>
        </p:nvSpPr>
        <p:spPr>
          <a:xfrm>
            <a:off x="2011680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88 %</a:t>
            </a:r>
            <a:endParaRPr lang="en-US" sz="1600" dirty="0"/>
          </a:p>
        </p:txBody>
      </p:sp>
      <p:sp>
        <p:nvSpPr>
          <p:cNvPr id="30" name="Linka PP-02"/>
          <p:cNvSpPr/>
          <p:nvPr/>
        </p:nvSpPr>
        <p:spPr>
          <a:xfrm>
            <a:off x="3218688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Linka název PP-02"/>
          <p:cNvSpPr txBox="1"/>
          <p:nvPr/>
        </p:nvSpPr>
        <p:spPr>
          <a:xfrm>
            <a:off x="3218688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PP-02</a:t>
            </a:r>
            <a:endParaRPr lang="en-US" sz="1100" dirty="0"/>
          </a:p>
        </p:txBody>
      </p:sp>
      <p:sp>
        <p:nvSpPr>
          <p:cNvPr id="32" name="Linka OEE PP-02"/>
          <p:cNvSpPr txBox="1"/>
          <p:nvPr/>
        </p:nvSpPr>
        <p:spPr>
          <a:xfrm>
            <a:off x="3218688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88 %</a:t>
            </a:r>
            <a:endParaRPr lang="en-US" sz="1600" dirty="0"/>
          </a:p>
        </p:txBody>
      </p:sp>
      <p:sp>
        <p:nvSpPr>
          <p:cNvPr id="33" name="Linka PP-03"/>
          <p:cNvSpPr/>
          <p:nvPr/>
        </p:nvSpPr>
        <p:spPr>
          <a:xfrm>
            <a:off x="4425696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Linka název PP-03"/>
          <p:cNvSpPr txBox="1"/>
          <p:nvPr/>
        </p:nvSpPr>
        <p:spPr>
          <a:xfrm>
            <a:off x="4425696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PP-03</a:t>
            </a:r>
            <a:endParaRPr lang="en-US" sz="1100" dirty="0"/>
          </a:p>
        </p:txBody>
      </p:sp>
      <p:sp>
        <p:nvSpPr>
          <p:cNvPr id="35" name="Linka OEE PP-03"/>
          <p:cNvSpPr txBox="1"/>
          <p:nvPr/>
        </p:nvSpPr>
        <p:spPr>
          <a:xfrm>
            <a:off x="4425696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80 %</a:t>
            </a:r>
            <a:endParaRPr lang="en-US" sz="1600" dirty="0"/>
          </a:p>
        </p:txBody>
      </p:sp>
      <p:sp>
        <p:nvSpPr>
          <p:cNvPr id="36" name="Linka PP-04"/>
          <p:cNvSpPr/>
          <p:nvPr/>
        </p:nvSpPr>
        <p:spPr>
          <a:xfrm>
            <a:off x="5632704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7" name="Linka název PP-04"/>
          <p:cNvSpPr txBox="1"/>
          <p:nvPr/>
        </p:nvSpPr>
        <p:spPr>
          <a:xfrm>
            <a:off x="5632704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PP-04</a:t>
            </a:r>
            <a:endParaRPr lang="en-US" sz="1100" dirty="0"/>
          </a:p>
        </p:txBody>
      </p:sp>
      <p:sp>
        <p:nvSpPr>
          <p:cNvPr id="38" name="Linka OEE PP-04"/>
          <p:cNvSpPr txBox="1"/>
          <p:nvPr/>
        </p:nvSpPr>
        <p:spPr>
          <a:xfrm>
            <a:off x="5632704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88 %</a:t>
            </a:r>
            <a:endParaRPr lang="en-US" sz="1600" dirty="0"/>
          </a:p>
        </p:txBody>
      </p:sp>
      <p:sp>
        <p:nvSpPr>
          <p:cNvPr id="39" name="Linka PP-05"/>
          <p:cNvSpPr/>
          <p:nvPr/>
        </p:nvSpPr>
        <p:spPr>
          <a:xfrm>
            <a:off x="6839712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Linka název PP-05"/>
          <p:cNvSpPr txBox="1"/>
          <p:nvPr/>
        </p:nvSpPr>
        <p:spPr>
          <a:xfrm>
            <a:off x="6839712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PP-05</a:t>
            </a:r>
            <a:endParaRPr lang="en-US" sz="1100" dirty="0"/>
          </a:p>
        </p:txBody>
      </p:sp>
      <p:sp>
        <p:nvSpPr>
          <p:cNvPr id="41" name="Linka OEE PP-05"/>
          <p:cNvSpPr txBox="1"/>
          <p:nvPr/>
        </p:nvSpPr>
        <p:spPr>
          <a:xfrm>
            <a:off x="6839712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87 %</a:t>
            </a:r>
            <a:endParaRPr lang="en-US" sz="1600" dirty="0"/>
          </a:p>
        </p:txBody>
      </p:sp>
      <p:sp>
        <p:nvSpPr>
          <p:cNvPr id="42" name="Linka PP-06"/>
          <p:cNvSpPr/>
          <p:nvPr/>
        </p:nvSpPr>
        <p:spPr>
          <a:xfrm>
            <a:off x="8046720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3" name="Linka název PP-06"/>
          <p:cNvSpPr txBox="1"/>
          <p:nvPr/>
        </p:nvSpPr>
        <p:spPr>
          <a:xfrm>
            <a:off x="8046720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PP-06</a:t>
            </a:r>
            <a:endParaRPr lang="en-US" sz="1100" dirty="0"/>
          </a:p>
        </p:txBody>
      </p:sp>
      <p:sp>
        <p:nvSpPr>
          <p:cNvPr id="44" name="Linka OEE PP-06"/>
          <p:cNvSpPr txBox="1"/>
          <p:nvPr/>
        </p:nvSpPr>
        <p:spPr>
          <a:xfrm>
            <a:off x="8046720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87 %</a:t>
            </a:r>
            <a:endParaRPr lang="en-US" sz="1600" dirty="0"/>
          </a:p>
        </p:txBody>
      </p:sp>
      <p:sp>
        <p:nvSpPr>
          <p:cNvPr id="45" name="Linka PP-07"/>
          <p:cNvSpPr/>
          <p:nvPr/>
        </p:nvSpPr>
        <p:spPr>
          <a:xfrm>
            <a:off x="9253728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6" name="Linka název PP-07"/>
          <p:cNvSpPr txBox="1"/>
          <p:nvPr/>
        </p:nvSpPr>
        <p:spPr>
          <a:xfrm>
            <a:off x="9253728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PP-07</a:t>
            </a:r>
            <a:endParaRPr lang="en-US" sz="1100" dirty="0"/>
          </a:p>
        </p:txBody>
      </p:sp>
      <p:sp>
        <p:nvSpPr>
          <p:cNvPr id="47" name="Linka OEE PP-07"/>
          <p:cNvSpPr txBox="1"/>
          <p:nvPr/>
        </p:nvSpPr>
        <p:spPr>
          <a:xfrm>
            <a:off x="9253728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85 %</a:t>
            </a:r>
            <a:endParaRPr lang="en-US" sz="1600" dirty="0"/>
          </a:p>
        </p:txBody>
      </p:sp>
      <p:sp>
        <p:nvSpPr>
          <p:cNvPr id="48" name="Linka PP-08"/>
          <p:cNvSpPr/>
          <p:nvPr/>
        </p:nvSpPr>
        <p:spPr>
          <a:xfrm>
            <a:off x="10460736" y="5257800"/>
            <a:ext cx="1078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9" name="Linka název PP-08"/>
          <p:cNvSpPr txBox="1"/>
          <p:nvPr/>
        </p:nvSpPr>
        <p:spPr>
          <a:xfrm>
            <a:off x="10460736" y="53218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PP-08</a:t>
            </a:r>
            <a:endParaRPr lang="en-US" sz="1100" dirty="0"/>
          </a:p>
        </p:txBody>
      </p:sp>
      <p:sp>
        <p:nvSpPr>
          <p:cNvPr id="50" name="Linka OEE PP-08"/>
          <p:cNvSpPr txBox="1"/>
          <p:nvPr/>
        </p:nvSpPr>
        <p:spPr>
          <a:xfrm>
            <a:off x="10460736" y="555955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89 %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Čtyři pravidla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Nad spočítanými daty analýza projde čtyři pravidla a každý nález popíše srozumitelnou větou.</a:t>
            </a:r>
            <a:endParaRPr lang="en-US" sz="1600" dirty="0"/>
          </a:p>
        </p:txBody>
      </p:sp>
      <p:sp>
        <p:nvSpPr>
          <p:cNvPr id="4" name="Pravidlo 1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Číslo pravidla 1"/>
          <p:cNvSpPr txBox="1"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Pravidlo název 1"/>
          <p:cNvSpPr txBox="1"/>
          <p:nvPr/>
        </p:nvSpPr>
        <p:spPr>
          <a:xfrm>
            <a:off x="16916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OEE výrazně pod průměrem</a:t>
            </a:r>
            <a:endParaRPr lang="en-US" sz="1800" dirty="0"/>
          </a:p>
        </p:txBody>
      </p:sp>
      <p:sp>
        <p:nvSpPr>
          <p:cNvPr id="7" name="Pravidlo popis 1"/>
          <p:cNvSpPr txBox="1"/>
          <p:nvPr/>
        </p:nvSpPr>
        <p:spPr>
          <a:xfrm>
            <a:off x="1691640" y="2514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Najde linky, které zaostávají, a řekne, která ze tří složek je nejvíc brzdí.</a:t>
            </a:r>
            <a:endParaRPr lang="en-US" sz="1400" dirty="0"/>
          </a:p>
        </p:txBody>
      </p:sp>
      <p:sp>
        <p:nvSpPr>
          <p:cNvPr id="8" name="Pravidlo hranice 1"/>
          <p:cNvSpPr txBox="1"/>
          <p:nvPr/>
        </p:nvSpPr>
        <p:spPr>
          <a:xfrm>
            <a:off x="1691640" y="3246120"/>
            <a:ext cx="3017520" cy="329184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 5+ procentních bodů pod průměrem</a:t>
            </a:r>
            <a:endParaRPr lang="en-US" sz="1200" dirty="0"/>
          </a:p>
        </p:txBody>
      </p:sp>
      <p:sp>
        <p:nvSpPr>
          <p:cNvPr id="9" name="Pravidlo 2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Číslo pravidla 2"/>
          <p:cNvSpPr txBox="1"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Pravidlo název 2"/>
          <p:cNvSpPr txBox="1"/>
          <p:nvPr/>
        </p:nvSpPr>
        <p:spPr>
          <a:xfrm>
            <a:off x="731520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Opakované krátké zastávky</a:t>
            </a:r>
            <a:endParaRPr lang="en-US" sz="1800" dirty="0"/>
          </a:p>
        </p:txBody>
      </p:sp>
      <p:sp>
        <p:nvSpPr>
          <p:cNvPr id="12" name="Pravidlo popis 2"/>
          <p:cNvSpPr txBox="1"/>
          <p:nvPr/>
        </p:nvSpPr>
        <p:spPr>
          <a:xfrm>
            <a:off x="7315200" y="2514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Stejný důvod zastávky víc než 3× častěji než na ostatních linkách.</a:t>
            </a:r>
            <a:endParaRPr lang="en-US" sz="1400" dirty="0"/>
          </a:p>
        </p:txBody>
      </p:sp>
      <p:sp>
        <p:nvSpPr>
          <p:cNvPr id="13" name="Pravidlo hranice 2"/>
          <p:cNvSpPr txBox="1"/>
          <p:nvPr/>
        </p:nvSpPr>
        <p:spPr>
          <a:xfrm>
            <a:off x="7315200" y="3246120"/>
            <a:ext cx="3017520" cy="329184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průměrně do 3 minut</a:t>
            </a:r>
            <a:endParaRPr lang="en-US" sz="1200" dirty="0"/>
          </a:p>
        </p:txBody>
      </p:sp>
      <p:sp>
        <p:nvSpPr>
          <p:cNvPr id="14" name="Pravidlo 3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Číslo pravidla 3"/>
          <p:cNvSpPr txBox="1"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Pravidlo název 3"/>
          <p:cNvSpPr txBox="1"/>
          <p:nvPr/>
        </p:nvSpPr>
        <p:spPr>
          <a:xfrm>
            <a:off x="1691640" y="4297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Směna s víc zmetky</a:t>
            </a:r>
            <a:endParaRPr lang="en-US" sz="1800" dirty="0"/>
          </a:p>
        </p:txBody>
      </p:sp>
      <p:sp>
        <p:nvSpPr>
          <p:cNvPr id="17" name="Pravidlo popis 3"/>
          <p:cNvSpPr txBox="1"/>
          <p:nvPr/>
        </p:nvSpPr>
        <p:spPr>
          <a:xfrm>
            <a:off x="1691640" y="4754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Podíl vadných sáčků víc než 2× vyšší než na ostatních směnách.</a:t>
            </a:r>
            <a:endParaRPr lang="en-US" sz="1400" dirty="0"/>
          </a:p>
        </p:txBody>
      </p:sp>
      <p:sp>
        <p:nvSpPr>
          <p:cNvPr id="18" name="Pravidlo hranice 3"/>
          <p:cNvSpPr txBox="1"/>
          <p:nvPr/>
        </p:nvSpPr>
        <p:spPr>
          <a:xfrm>
            <a:off x="1691640" y="5486400"/>
            <a:ext cx="3017520" cy="329184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ranní · odpolední · noční</a:t>
            </a:r>
            <a:endParaRPr lang="en-US" sz="1200" dirty="0"/>
          </a:p>
        </p:txBody>
      </p:sp>
      <p:sp>
        <p:nvSpPr>
          <p:cNvPr id="19" name="Pravidlo 4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Číslo pravidla 4"/>
          <p:cNvSpPr txBox="1"/>
          <p:nvPr/>
        </p:nvSpPr>
        <p:spPr>
          <a:xfrm>
            <a:off x="6446520" y="4297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Pravidlo název 4"/>
          <p:cNvSpPr txBox="1"/>
          <p:nvPr/>
        </p:nvSpPr>
        <p:spPr>
          <a:xfrm>
            <a:off x="7315200" y="4297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Velké poruchy</a:t>
            </a:r>
            <a:endParaRPr lang="en-US" sz="1800" dirty="0"/>
          </a:p>
        </p:txBody>
      </p:sp>
      <p:sp>
        <p:nvSpPr>
          <p:cNvPr id="22" name="Pravidlo popis 4"/>
          <p:cNvSpPr txBox="1"/>
          <p:nvPr/>
        </p:nvSpPr>
        <p:spPr>
          <a:xfrm>
            <a:off x="7315200" y="4754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Jeden typ prostoje dal za den aspoň 2 hodiny stání.</a:t>
            </a:r>
            <a:endParaRPr lang="en-US" sz="1400" dirty="0"/>
          </a:p>
        </p:txBody>
      </p:sp>
      <p:sp>
        <p:nvSpPr>
          <p:cNvPr id="23" name="Pravidlo hranice 4"/>
          <p:cNvSpPr txBox="1"/>
          <p:nvPr/>
        </p:nvSpPr>
        <p:spPr>
          <a:xfrm>
            <a:off x="7315200" y="5486400"/>
            <a:ext cx="3017520" cy="329184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průměrně 10+ minut na zastávku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Výsledek: 3 ze 3 problémů</a:t>
            </a:r>
            <a:endParaRPr lang="en-US" sz="3600" dirty="0"/>
          </a:p>
        </p:txBody>
      </p:sp>
      <p:sp>
        <p:nvSpPr>
          <p:cNvPr id="3" name="Graf – pozadí"/>
          <p:cNvSpPr/>
          <p:nvPr/>
        </p:nvSpPr>
        <p:spPr>
          <a:xfrm>
            <a:off x="548640" y="1371600"/>
            <a:ext cx="617220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graphicFrame>
        <p:nvGraphicFramePr>
          <p:cNvPr id="4" name="Graf OEE podle linek" descr=""/>
          <p:cNvGraphicFramePr/>
          <p:nvPr/>
        </p:nvGraphicFramePr>
        <p:xfrm>
          <a:off x="685800" y="1463040"/>
          <a:ext cx="589788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alezeno – pozadí"/>
          <p:cNvSpPr/>
          <p:nvPr/>
        </p:nvSpPr>
        <p:spPr>
          <a:xfrm>
            <a:off x="6995160" y="1371600"/>
            <a:ext cx="4617720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1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Nalezeno – fajfka – pozadí"/>
          <p:cNvSpPr/>
          <p:nvPr/>
        </p:nvSpPr>
        <p:spPr>
          <a:xfrm>
            <a:off x="7132320" y="14630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Nalezeno – fajfka" descr="Nalezeno – fajfk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182880" cy="182880"/>
          </a:xfrm>
          <a:prstGeom prst="rect">
            <a:avLst/>
          </a:prstGeom>
        </p:spPr>
      </p:pic>
      <p:sp>
        <p:nvSpPr>
          <p:cNvPr id="8" name="Nalezeno – text"/>
          <p:cNvSpPr txBox="1"/>
          <p:nvPr/>
        </p:nvSpPr>
        <p:spPr>
          <a:xfrm>
            <a:off x="763524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Analýza našla všechny tři problémy</a:t>
            </a:r>
            <a:endParaRPr lang="en-US" sz="1500" dirty="0"/>
          </a:p>
        </p:txBody>
      </p:sp>
      <p:sp>
        <p:nvSpPr>
          <p:cNvPr id="9" name="Nález PP-03 · Chyba váhy"/>
          <p:cNvSpPr/>
          <p:nvPr/>
        </p:nvSpPr>
        <p:spPr>
          <a:xfrm>
            <a:off x="6995160" y="2148840"/>
            <a:ext cx="46177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Nález číslo PP-03 · Chyba váhy"/>
          <p:cNvSpPr txBox="1"/>
          <p:nvPr/>
        </p:nvSpPr>
        <p:spPr>
          <a:xfrm>
            <a:off x="7223760" y="2286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614×</a:t>
            </a:r>
            <a:endParaRPr lang="en-US" sz="3200" dirty="0"/>
          </a:p>
        </p:txBody>
      </p:sp>
      <p:sp>
        <p:nvSpPr>
          <p:cNvPr id="11" name="Nález linka PP-03 · Chyba váhy"/>
          <p:cNvSpPr txBox="1"/>
          <p:nvPr/>
        </p:nvSpPr>
        <p:spPr>
          <a:xfrm>
            <a:off x="9006840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PP-03 · Chyba váhy</a:t>
            </a:r>
            <a:endParaRPr lang="en-US" sz="1200" dirty="0"/>
          </a:p>
        </p:txBody>
      </p:sp>
      <p:sp>
        <p:nvSpPr>
          <p:cNvPr id="12" name="Nález název PP-03 · Chyba váhy"/>
          <p:cNvSpPr txBox="1"/>
          <p:nvPr/>
        </p:nvSpPr>
        <p:spPr>
          <a:xfrm>
            <a:off x="9006840" y="2578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zaseknutá váha za týden</a:t>
            </a:r>
            <a:endParaRPr lang="en-US" sz="1500" dirty="0"/>
          </a:p>
        </p:txBody>
      </p:sp>
      <p:sp>
        <p:nvSpPr>
          <p:cNvPr id="13" name="Nález popis PP-03 · Chyba váhy"/>
          <p:cNvSpPr txBox="1"/>
          <p:nvPr/>
        </p:nvSpPr>
        <p:spPr>
          <a:xfrm>
            <a:off x="9006840" y="2898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jinde jen kolem 21×, vždy na 1,5 min</a:t>
            </a:r>
            <a:endParaRPr lang="en-US" sz="1200" dirty="0"/>
          </a:p>
        </p:txBody>
      </p:sp>
      <p:sp>
        <p:nvSpPr>
          <p:cNvPr id="14" name="Nález PP-06 · noční směna"/>
          <p:cNvSpPr/>
          <p:nvPr/>
        </p:nvSpPr>
        <p:spPr>
          <a:xfrm>
            <a:off x="6995160" y="3520440"/>
            <a:ext cx="46177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Nález číslo PP-06 · noční směna"/>
          <p:cNvSpPr txBox="1"/>
          <p:nvPr/>
        </p:nvSpPr>
        <p:spPr>
          <a:xfrm>
            <a:off x="7223760" y="36576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5,7 %</a:t>
            </a:r>
            <a:endParaRPr lang="en-US" sz="3200" dirty="0"/>
          </a:p>
        </p:txBody>
      </p:sp>
      <p:sp>
        <p:nvSpPr>
          <p:cNvPr id="16" name="Nález linka PP-06 · noční směna"/>
          <p:cNvSpPr txBox="1"/>
          <p:nvPr/>
        </p:nvSpPr>
        <p:spPr>
          <a:xfrm>
            <a:off x="9006840" y="3675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PP-06 · noční směna</a:t>
            </a:r>
            <a:endParaRPr lang="en-US" sz="1200" dirty="0"/>
          </a:p>
        </p:txBody>
      </p:sp>
      <p:sp>
        <p:nvSpPr>
          <p:cNvPr id="17" name="Nález název PP-06 · noční směna"/>
          <p:cNvSpPr txBox="1"/>
          <p:nvPr/>
        </p:nvSpPr>
        <p:spPr>
          <a:xfrm>
            <a:off x="9006840" y="3950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vadných sáčků v noci</a:t>
            </a:r>
            <a:endParaRPr lang="en-US" sz="1500" dirty="0"/>
          </a:p>
        </p:txBody>
      </p:sp>
      <p:sp>
        <p:nvSpPr>
          <p:cNvPr id="18" name="Nález popis PP-06 · noční směna"/>
          <p:cNvSpPr txBox="1"/>
          <p:nvPr/>
        </p:nvSpPr>
        <p:spPr>
          <a:xfrm>
            <a:off x="9006840" y="4270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ostatní směny jen 0,6 %</a:t>
            </a:r>
            <a:endParaRPr lang="en-US" sz="1200" dirty="0"/>
          </a:p>
        </p:txBody>
      </p:sp>
      <p:sp>
        <p:nvSpPr>
          <p:cNvPr id="19" name="Nález PP-07 · 17. 10."/>
          <p:cNvSpPr/>
          <p:nvPr/>
        </p:nvSpPr>
        <p:spPr>
          <a:xfrm>
            <a:off x="6995160" y="4892040"/>
            <a:ext cx="46177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Nález číslo PP-07 · 17. 10."/>
          <p:cNvSpPr txBox="1"/>
          <p:nvPr/>
        </p:nvSpPr>
        <p:spPr>
          <a:xfrm>
            <a:off x="7223760" y="5029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5,0 h</a:t>
            </a:r>
            <a:endParaRPr lang="en-US" sz="3200" dirty="0"/>
          </a:p>
        </p:txBody>
      </p:sp>
      <p:sp>
        <p:nvSpPr>
          <p:cNvPr id="21" name="Nález linka PP-07 · 17. 10."/>
          <p:cNvSpPr txBox="1"/>
          <p:nvPr/>
        </p:nvSpPr>
        <p:spPr>
          <a:xfrm>
            <a:off x="9006840" y="5047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PP-07 · 17. 10.</a:t>
            </a:r>
            <a:endParaRPr lang="en-US" sz="1200" dirty="0"/>
          </a:p>
        </p:txBody>
      </p:sp>
      <p:sp>
        <p:nvSpPr>
          <p:cNvPr id="22" name="Nález název PP-07 · 17. 10."/>
          <p:cNvSpPr txBox="1"/>
          <p:nvPr/>
        </p:nvSpPr>
        <p:spPr>
          <a:xfrm>
            <a:off x="9006840" y="5321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porucha podavače</a:t>
            </a:r>
            <a:endParaRPr lang="en-US" sz="1500" dirty="0"/>
          </a:p>
        </p:txBody>
      </p:sp>
      <p:sp>
        <p:nvSpPr>
          <p:cNvPr id="23" name="Nález popis PP-07 · 17. 10."/>
          <p:cNvSpPr txBox="1"/>
          <p:nvPr/>
        </p:nvSpPr>
        <p:spPr>
          <a:xfrm>
            <a:off x="9006840" y="5641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jedna dlouhá zastávka linky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Automatický report</a:t>
            </a:r>
            <a:endParaRPr lang="en-US" sz="3600" dirty="0"/>
          </a:p>
        </p:txBody>
      </p:sp>
      <p:sp>
        <p:nvSpPr>
          <p:cNvPr id="3" name="Okno prohlížeče"/>
          <p:cNvSpPr/>
          <p:nvPr/>
        </p:nvSpPr>
        <p:spPr>
          <a:xfrm>
            <a:off x="548640" y="1371600"/>
            <a:ext cx="5440680" cy="4756971"/>
          </a:xfrm>
          <a:prstGeom prst="roundRect">
            <a:avLst>
              <a:gd name="adj" fmla="val 1922"/>
            </a:avLst>
          </a:prstGeom>
          <a:solidFill>
            <a:srgbClr val="E9ECE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lačítko okna 1"/>
          <p:cNvSpPr/>
          <p:nvPr/>
        </p:nvSpPr>
        <p:spPr>
          <a:xfrm>
            <a:off x="713232" y="14813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Tlačítko okna 2"/>
          <p:cNvSpPr/>
          <p:nvPr/>
        </p:nvSpPr>
        <p:spPr>
          <a:xfrm>
            <a:off x="896112" y="14813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Tlačítko okna 3"/>
          <p:cNvSpPr/>
          <p:nvPr/>
        </p:nvSpPr>
        <p:spPr>
          <a:xfrm>
            <a:off x="1078992" y="14813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" name="Adresa reportu"/>
          <p:cNvSpPr txBox="1"/>
          <p:nvPr/>
        </p:nvSpPr>
        <p:spPr>
          <a:xfrm>
            <a:off x="1371600" y="1417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linky-monitor/report.html</a:t>
            </a:r>
            <a:endParaRPr lang="en-US" sz="1000" dirty="0"/>
          </a:p>
        </p:txBody>
      </p:sp>
      <p:pic>
        <p:nvPicPr>
          <p:cNvPr id="8" name="Snímek reportu" descr="Report Výkon balicích linek: seznam Na co se podívat a graf OEE podle lin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0784"/>
            <a:ext cx="5440680" cy="4427787"/>
          </a:xfrm>
          <a:prstGeom prst="rect">
            <a:avLst/>
          </a:prstGeom>
        </p:spPr>
      </p:pic>
      <p:sp>
        <p:nvSpPr>
          <p:cNvPr id="9" name="Ikona „Na co se podívat“ – pozadí"/>
          <p:cNvSpPr/>
          <p:nvPr/>
        </p:nvSpPr>
        <p:spPr>
          <a:xfrm>
            <a:off x="6629400" y="1463040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10" name="Ikona „Na co se podívat“" descr="Ikona „Na co se podívat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59" y="1593799"/>
            <a:ext cx="332842" cy="332842"/>
          </a:xfrm>
          <a:prstGeom prst="rect">
            <a:avLst/>
          </a:prstGeom>
        </p:spPr>
      </p:pic>
      <p:sp>
        <p:nvSpPr>
          <p:cNvPr id="11" name="Bod „Na co se podívat“"/>
          <p:cNvSpPr txBox="1"/>
          <p:nvPr/>
        </p:nvSpPr>
        <p:spPr>
          <a:xfrm>
            <a:off x="7452360" y="1444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„Na co se podívat“</a:t>
            </a:r>
            <a:endParaRPr lang="en-US" sz="1800" dirty="0"/>
          </a:p>
        </p:txBody>
      </p:sp>
      <p:sp>
        <p:nvSpPr>
          <p:cNvPr id="12" name="Bod popis „Na co se podívat“"/>
          <p:cNvSpPr txBox="1"/>
          <p:nvPr/>
        </p:nvSpPr>
        <p:spPr>
          <a:xfrm>
            <a:off x="7452360" y="17922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nalezené problémy srozumitelnými větami</a:t>
            </a:r>
            <a:endParaRPr lang="en-US" sz="1400" dirty="0"/>
          </a:p>
        </p:txBody>
      </p:sp>
      <p:sp>
        <p:nvSpPr>
          <p:cNvPr id="13" name="Ikona Graf OEE – pozadí"/>
          <p:cNvSpPr/>
          <p:nvPr/>
        </p:nvSpPr>
        <p:spPr>
          <a:xfrm>
            <a:off x="6629400" y="2578608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14" name="Ikona Graf OEE" descr="Ikona Graf O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159" y="2709367"/>
            <a:ext cx="332842" cy="332842"/>
          </a:xfrm>
          <a:prstGeom prst="rect">
            <a:avLst/>
          </a:prstGeom>
        </p:spPr>
      </p:pic>
      <p:sp>
        <p:nvSpPr>
          <p:cNvPr id="15" name="Bod Graf OEE"/>
          <p:cNvSpPr txBox="1"/>
          <p:nvPr/>
        </p:nvSpPr>
        <p:spPr>
          <a:xfrm>
            <a:off x="7452360" y="2560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 OEE</a:t>
            </a:r>
            <a:endParaRPr lang="en-US" sz="1800" dirty="0"/>
          </a:p>
        </p:txBody>
      </p:sp>
      <p:sp>
        <p:nvSpPr>
          <p:cNvPr id="16" name="Bod popis Graf OEE"/>
          <p:cNvSpPr txBox="1"/>
          <p:nvPr/>
        </p:nvSpPr>
        <p:spPr>
          <a:xfrm>
            <a:off x="7452360" y="2907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problémové linky jsou červeně</a:t>
            </a:r>
            <a:endParaRPr lang="en-US" sz="1400" dirty="0"/>
          </a:p>
        </p:txBody>
      </p:sp>
      <p:sp>
        <p:nvSpPr>
          <p:cNvPr id="17" name="Ikona Tabulky s podrobnostmi – pozadí"/>
          <p:cNvSpPr/>
          <p:nvPr/>
        </p:nvSpPr>
        <p:spPr>
          <a:xfrm>
            <a:off x="6629400" y="3694176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18" name="Ikona Tabulky s podrobnostmi" descr="Ikona Tabulky s podrobnostm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159" y="3824935"/>
            <a:ext cx="332842" cy="332842"/>
          </a:xfrm>
          <a:prstGeom prst="rect">
            <a:avLst/>
          </a:prstGeom>
        </p:spPr>
      </p:pic>
      <p:sp>
        <p:nvSpPr>
          <p:cNvPr id="19" name="Bod Tabulky s podrobnostmi"/>
          <p:cNvSpPr txBox="1"/>
          <p:nvPr/>
        </p:nvSpPr>
        <p:spPr>
          <a:xfrm>
            <a:off x="7452360" y="3675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Tabulky s podrobnostmi</a:t>
            </a:r>
            <a:endParaRPr lang="en-US" sz="1800" dirty="0"/>
          </a:p>
        </p:txBody>
      </p:sp>
      <p:sp>
        <p:nvSpPr>
          <p:cNvPr id="20" name="Bod popis Tabulky s podrobnostmi"/>
          <p:cNvSpPr txBox="1"/>
          <p:nvPr/>
        </p:nvSpPr>
        <p:spPr>
          <a:xfrm>
            <a:off x="7452360" y="4023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dostupnost, výkon, kvalita, prostoje</a:t>
            </a:r>
            <a:endParaRPr lang="en-US" sz="1400" dirty="0"/>
          </a:p>
        </p:txBody>
      </p:sp>
      <p:sp>
        <p:nvSpPr>
          <p:cNvPr id="21" name="Ikona Prohlížeč nebo e-mail – pozadí"/>
          <p:cNvSpPr/>
          <p:nvPr/>
        </p:nvSpPr>
        <p:spPr>
          <a:xfrm>
            <a:off x="6629400" y="4809744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22" name="Ikona Prohlížeč nebo e-mail" descr="Ikona Prohlížeč nebo e-ma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159" y="4940503"/>
            <a:ext cx="332842" cy="332842"/>
          </a:xfrm>
          <a:prstGeom prst="rect">
            <a:avLst/>
          </a:prstGeom>
        </p:spPr>
      </p:pic>
      <p:sp>
        <p:nvSpPr>
          <p:cNvPr id="23" name="Bod Prohlížeč nebo e-mail"/>
          <p:cNvSpPr txBox="1"/>
          <p:nvPr/>
        </p:nvSpPr>
        <p:spPr>
          <a:xfrm>
            <a:off x="7452360" y="4791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Prohlížeč nebo e-mail</a:t>
            </a:r>
            <a:endParaRPr lang="en-US" sz="1800" dirty="0"/>
          </a:p>
        </p:txBody>
      </p:sp>
      <p:sp>
        <p:nvSpPr>
          <p:cNvPr id="24" name="Bod popis Prohlížeč nebo e-mail"/>
          <p:cNvSpPr txBox="1"/>
          <p:nvPr/>
        </p:nvSpPr>
        <p:spPr>
          <a:xfrm>
            <a:off x="7452360" y="5138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 je jeden HTML soubor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Se skutečnými daty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Vyměnila by se jediná funkce, zbytek zůstane stejný.</a:t>
            </a:r>
            <a:endParaRPr lang="en-US" sz="1600" dirty="0"/>
          </a:p>
        </p:txBody>
      </p:sp>
      <p:sp>
        <p:nvSpPr>
          <p:cNvPr id="4" name="Tok Výrobní systém"/>
          <p:cNvSpPr/>
          <p:nvPr/>
        </p:nvSpPr>
        <p:spPr>
          <a:xfrm>
            <a:off x="548640" y="1783080"/>
            <a:ext cx="2377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Ikona toku Výrobní systém – pozadí"/>
          <p:cNvSpPr/>
          <p:nvPr/>
        </p:nvSpPr>
        <p:spPr>
          <a:xfrm>
            <a:off x="749808" y="198424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pic>
        <p:nvPicPr>
          <p:cNvPr id="6" name="Ikona toku Výrobní systém" descr="Ikona toku Výrobní systé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84832"/>
            <a:ext cx="256032" cy="256032"/>
          </a:xfrm>
          <a:prstGeom prst="rect">
            <a:avLst/>
          </a:prstGeom>
        </p:spPr>
      </p:pic>
      <p:sp>
        <p:nvSpPr>
          <p:cNvPr id="7" name="Tok název Výrobní systém"/>
          <p:cNvSpPr txBox="1"/>
          <p:nvPr/>
        </p:nvSpPr>
        <p:spPr>
          <a:xfrm>
            <a:off x="132588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Výrobní systém</a:t>
            </a:r>
            <a:endParaRPr lang="en-US" sz="1400" dirty="0"/>
          </a:p>
        </p:txBody>
      </p:sp>
      <p:sp>
        <p:nvSpPr>
          <p:cNvPr id="8" name="Tok popis Výrobní systém"/>
          <p:cNvSpPr txBox="1"/>
          <p:nvPr/>
        </p:nvSpPr>
        <p:spPr>
          <a:xfrm>
            <a:off x="74980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data přímo z linek (MES, databáze)</a:t>
            </a:r>
            <a:endParaRPr lang="en-US" sz="1200" dirty="0"/>
          </a:p>
        </p:txBody>
      </p:sp>
      <p:sp>
        <p:nvSpPr>
          <p:cNvPr id="9" name="Tok šipka 1"/>
          <p:cNvSpPr/>
          <p:nvPr/>
        </p:nvSpPr>
        <p:spPr>
          <a:xfrm>
            <a:off x="3035808" y="2313432"/>
            <a:ext cx="274320" cy="2743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0" name="Tok nacti_data()"/>
          <p:cNvSpPr/>
          <p:nvPr/>
        </p:nvSpPr>
        <p:spPr>
          <a:xfrm>
            <a:off x="3429000" y="1783080"/>
            <a:ext cx="2377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Ikona toku nacti_data() – pozadí"/>
          <p:cNvSpPr/>
          <p:nvPr/>
        </p:nvSpPr>
        <p:spPr>
          <a:xfrm>
            <a:off x="3630168" y="198424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12" name="Ikona toku nacti_data()" descr="Ikona toku nacti_data(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84832"/>
            <a:ext cx="256032" cy="256032"/>
          </a:xfrm>
          <a:prstGeom prst="rect">
            <a:avLst/>
          </a:prstGeom>
        </p:spPr>
      </p:pic>
      <p:sp>
        <p:nvSpPr>
          <p:cNvPr id="13" name="Tok název nacti_data()"/>
          <p:cNvSpPr txBox="1"/>
          <p:nvPr/>
        </p:nvSpPr>
        <p:spPr>
          <a:xfrm>
            <a:off x="420624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nacti_data()</a:t>
            </a:r>
            <a:endParaRPr lang="en-US" sz="1400" dirty="0"/>
          </a:p>
        </p:txBody>
      </p:sp>
      <p:sp>
        <p:nvSpPr>
          <p:cNvPr id="14" name="Tok popis nacti_data()"/>
          <p:cNvSpPr txBox="1"/>
          <p:nvPr/>
        </p:nvSpPr>
        <p:spPr>
          <a:xfrm>
            <a:off x="363016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jediná funkce, která se vymění</a:t>
            </a:r>
            <a:endParaRPr lang="en-US" sz="1200" dirty="0"/>
          </a:p>
        </p:txBody>
      </p:sp>
      <p:sp>
        <p:nvSpPr>
          <p:cNvPr id="15" name="Tok šipka 2"/>
          <p:cNvSpPr/>
          <p:nvPr/>
        </p:nvSpPr>
        <p:spPr>
          <a:xfrm>
            <a:off x="5916168" y="2313432"/>
            <a:ext cx="274320" cy="2743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6" name="Tok Analýza"/>
          <p:cNvSpPr/>
          <p:nvPr/>
        </p:nvSpPr>
        <p:spPr>
          <a:xfrm>
            <a:off x="6309360" y="1783080"/>
            <a:ext cx="2377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Ikona toku Analýza – pozadí"/>
          <p:cNvSpPr/>
          <p:nvPr/>
        </p:nvSpPr>
        <p:spPr>
          <a:xfrm>
            <a:off x="6510528" y="198424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pic>
        <p:nvPicPr>
          <p:cNvPr id="18" name="Ikona toku Analýza" descr="Ikona toku Analýz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084832"/>
            <a:ext cx="256032" cy="256032"/>
          </a:xfrm>
          <a:prstGeom prst="rect">
            <a:avLst/>
          </a:prstGeom>
        </p:spPr>
      </p:pic>
      <p:sp>
        <p:nvSpPr>
          <p:cNvPr id="19" name="Tok název Analýza"/>
          <p:cNvSpPr txBox="1"/>
          <p:nvPr/>
        </p:nvSpPr>
        <p:spPr>
          <a:xfrm>
            <a:off x="708660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Analýza</a:t>
            </a:r>
            <a:endParaRPr lang="en-US" sz="1400" dirty="0"/>
          </a:p>
        </p:txBody>
      </p:sp>
      <p:sp>
        <p:nvSpPr>
          <p:cNvPr id="20" name="Tok popis Analýza"/>
          <p:cNvSpPr txBox="1"/>
          <p:nvPr/>
        </p:nvSpPr>
        <p:spPr>
          <a:xfrm>
            <a:off x="651052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OEE a čtyři pravidla</a:t>
            </a:r>
            <a:endParaRPr lang="en-US" sz="1200" dirty="0"/>
          </a:p>
        </p:txBody>
      </p:sp>
      <p:sp>
        <p:nvSpPr>
          <p:cNvPr id="21" name="Tok šipka 3"/>
          <p:cNvSpPr/>
          <p:nvPr/>
        </p:nvSpPr>
        <p:spPr>
          <a:xfrm>
            <a:off x="8796528" y="2313432"/>
            <a:ext cx="274320" cy="2743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22" name="Tok report.html"/>
          <p:cNvSpPr/>
          <p:nvPr/>
        </p:nvSpPr>
        <p:spPr>
          <a:xfrm>
            <a:off x="9189720" y="1783080"/>
            <a:ext cx="2377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Ikona toku report.html – pozadí"/>
          <p:cNvSpPr/>
          <p:nvPr/>
        </p:nvSpPr>
        <p:spPr>
          <a:xfrm>
            <a:off x="9390888" y="198424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pic>
        <p:nvPicPr>
          <p:cNvPr id="24" name="Ikona toku report.html" descr="Ikona toku report.htm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084832"/>
            <a:ext cx="256032" cy="256032"/>
          </a:xfrm>
          <a:prstGeom prst="rect">
            <a:avLst/>
          </a:prstGeom>
        </p:spPr>
      </p:pic>
      <p:sp>
        <p:nvSpPr>
          <p:cNvPr id="25" name="Tok název report.html"/>
          <p:cNvSpPr txBox="1"/>
          <p:nvPr/>
        </p:nvSpPr>
        <p:spPr>
          <a:xfrm>
            <a:off x="996696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report.html</a:t>
            </a:r>
            <a:endParaRPr lang="en-US" sz="1400" dirty="0"/>
          </a:p>
        </p:txBody>
      </p:sp>
      <p:sp>
        <p:nvSpPr>
          <p:cNvPr id="26" name="Tok popis report.html"/>
          <p:cNvSpPr txBox="1"/>
          <p:nvPr/>
        </p:nvSpPr>
        <p:spPr>
          <a:xfrm>
            <a:off x="939088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 co se podívat</a:t>
            </a:r>
            <a:endParaRPr lang="en-US" sz="1200" dirty="0"/>
          </a:p>
        </p:txBody>
      </p:sp>
      <p:sp>
        <p:nvSpPr>
          <p:cNvPr id="27" name="Nápad Export do Power BI"/>
          <p:cNvSpPr/>
          <p:nvPr/>
        </p:nvSpPr>
        <p:spPr>
          <a:xfrm>
            <a:off x="548640" y="35204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Ikona Export do Power BI – pozadí"/>
          <p:cNvSpPr/>
          <p:nvPr/>
        </p:nvSpPr>
        <p:spPr>
          <a:xfrm>
            <a:off x="822960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pic>
        <p:nvPicPr>
          <p:cNvPr id="29" name="Ikona Export do Power BI" descr="Ikona Export do Power B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3935578"/>
            <a:ext cx="358445" cy="358445"/>
          </a:xfrm>
          <a:prstGeom prst="rect">
            <a:avLst/>
          </a:prstGeom>
        </p:spPr>
      </p:pic>
      <p:sp>
        <p:nvSpPr>
          <p:cNvPr id="30" name="Nápad název Export do Power BI"/>
          <p:cNvSpPr txBox="1"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Export do Power BI</a:t>
            </a:r>
            <a:endParaRPr lang="en-US" sz="1800" dirty="0"/>
          </a:p>
        </p:txBody>
      </p:sp>
      <p:sp>
        <p:nvSpPr>
          <p:cNvPr id="31" name="Nápad popis Export do Power BI"/>
          <p:cNvSpPr txBox="1"/>
          <p:nvPr/>
        </p:nvSpPr>
        <p:spPr>
          <a:xfrm>
            <a:off x="82296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jde dál filtrovat, sdílet a stavět nad nimi přehledy</a:t>
            </a:r>
            <a:endParaRPr lang="en-US" sz="1400" dirty="0"/>
          </a:p>
        </p:txBody>
      </p:sp>
      <p:sp>
        <p:nvSpPr>
          <p:cNvPr id="32" name="Nápad Upozornění do Teams"/>
          <p:cNvSpPr/>
          <p:nvPr/>
        </p:nvSpPr>
        <p:spPr>
          <a:xfrm>
            <a:off x="4325112" y="35204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Ikona Upozornění do Teams – pozadí"/>
          <p:cNvSpPr/>
          <p:nvPr/>
        </p:nvSpPr>
        <p:spPr>
          <a:xfrm>
            <a:off x="4599432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pic>
        <p:nvPicPr>
          <p:cNvPr id="34" name="Ikona Upozornění do Teams" descr="Ikona Upozornění do Team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250" y="3935578"/>
            <a:ext cx="358445" cy="358445"/>
          </a:xfrm>
          <a:prstGeom prst="rect">
            <a:avLst/>
          </a:prstGeom>
        </p:spPr>
      </p:pic>
      <p:sp>
        <p:nvSpPr>
          <p:cNvPr id="35" name="Nápad název Upozornění do Teams"/>
          <p:cNvSpPr txBox="1"/>
          <p:nvPr/>
        </p:nvSpPr>
        <p:spPr>
          <a:xfrm>
            <a:off x="4599432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Upozornění do Teams</a:t>
            </a:r>
            <a:endParaRPr lang="en-US" sz="1800" dirty="0"/>
          </a:p>
        </p:txBody>
      </p:sp>
      <p:sp>
        <p:nvSpPr>
          <p:cNvPr id="36" name="Nápad popis Upozornění do Teams"/>
          <p:cNvSpPr txBox="1"/>
          <p:nvPr/>
        </p:nvSpPr>
        <p:spPr>
          <a:xfrm>
            <a:off x="4599432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když OEE linky během směny spadne pod limit</a:t>
            </a:r>
            <a:endParaRPr lang="en-US" sz="1400" dirty="0"/>
          </a:p>
        </p:txBody>
      </p:sp>
      <p:sp>
        <p:nvSpPr>
          <p:cNvPr id="37" name="Nápad Týden po týdnu"/>
          <p:cNvSpPr/>
          <p:nvPr/>
        </p:nvSpPr>
        <p:spPr>
          <a:xfrm>
            <a:off x="8101584" y="35204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Ikona Týden po týdnu – pozadí"/>
          <p:cNvSpPr/>
          <p:nvPr/>
        </p:nvSpPr>
        <p:spPr>
          <a:xfrm>
            <a:off x="8375904" y="379476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pic>
        <p:nvPicPr>
          <p:cNvPr id="39" name="Ikona Týden po týdnu" descr="Ikona Týden po týdnu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6722" y="3935578"/>
            <a:ext cx="358445" cy="358445"/>
          </a:xfrm>
          <a:prstGeom prst="rect">
            <a:avLst/>
          </a:prstGeom>
        </p:spPr>
      </p:pic>
      <p:sp>
        <p:nvSpPr>
          <p:cNvPr id="40" name="Nápad název Týden po týdnu"/>
          <p:cNvSpPr txBox="1"/>
          <p:nvPr/>
        </p:nvSpPr>
        <p:spPr>
          <a:xfrm>
            <a:off x="8375904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Týden po týdnu</a:t>
            </a:r>
            <a:endParaRPr lang="en-US" sz="1800" dirty="0"/>
          </a:p>
        </p:txBody>
      </p:sp>
      <p:sp>
        <p:nvSpPr>
          <p:cNvPr id="41" name="Nápad popis Týden po týdnu"/>
          <p:cNvSpPr txBox="1"/>
          <p:nvPr/>
        </p:nvSpPr>
        <p:spPr>
          <a:xfrm>
            <a:off x="8375904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 vidět, jestli opatření na lince opravdu pomohla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Nápad pro PrePack</a:t>
            </a:r>
            <a:endParaRPr lang="en-US" sz="3600" dirty="0"/>
          </a:p>
        </p:txBody>
      </p:sp>
      <p:sp>
        <p:nvSpPr>
          <p:cNvPr id="3" name="Podnadpis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Hlídat váhu sáčků dřív, než linka začne vyrábět zmetky.</a:t>
            </a:r>
            <a:endParaRPr lang="en-US" sz="1600" dirty="0"/>
          </a:p>
        </p:txBody>
      </p:sp>
      <p:sp>
        <p:nvSpPr>
          <p:cNvPr id="4" name="Graf hmotnosti – pozadí"/>
          <p:cNvSpPr/>
          <p:nvPr/>
        </p:nvSpPr>
        <p:spPr>
          <a:xfrm>
            <a:off x="548640" y="1783080"/>
            <a:ext cx="690372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graphicFrame>
        <p:nvGraphicFramePr>
          <p:cNvPr id="5" name="Graf hmotnosti sáčku" descr=""/>
          <p:cNvGraphicFramePr/>
          <p:nvPr/>
        </p:nvGraphicFramePr>
        <p:xfrm>
          <a:off x="685800" y="1874520"/>
          <a:ext cx="6629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opis grafu"/>
          <p:cNvSpPr txBox="1"/>
          <p:nvPr/>
        </p:nvSpPr>
        <p:spPr>
          <a:xfrm>
            <a:off x="548640" y="568756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Upozornění by přišlo kolem 80. minuty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– mez tolerance by se překročila až kolem 100. minuty. Data jsou jen ukázka principu.</a:t>
            </a:r>
            <a:endParaRPr lang="en-US" sz="1200" dirty="0"/>
          </a:p>
        </p:txBody>
      </p:sp>
      <p:sp>
        <p:nvSpPr>
          <p:cNvPr id="7" name="Krok nápadu Sledovat trend"/>
          <p:cNvSpPr/>
          <p:nvPr/>
        </p:nvSpPr>
        <p:spPr>
          <a:xfrm>
            <a:off x="7726680" y="1783080"/>
            <a:ext cx="38862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Ikona Sledovat trend – pozadí"/>
          <p:cNvSpPr/>
          <p:nvPr/>
        </p:nvSpPr>
        <p:spPr>
          <a:xfrm>
            <a:off x="7955280" y="2084832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9" name="Ikona Sledovat trend" descr="Ikona Sledovat tr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004" y="2209556"/>
            <a:ext cx="317480" cy="317480"/>
          </a:xfrm>
          <a:prstGeom prst="rect">
            <a:avLst/>
          </a:prstGeom>
        </p:spPr>
      </p:pic>
      <p:sp>
        <p:nvSpPr>
          <p:cNvPr id="10" name="Krok nápadu název Sledovat trend"/>
          <p:cNvSpPr txBox="1"/>
          <p:nvPr/>
        </p:nvSpPr>
        <p:spPr>
          <a:xfrm>
            <a:off x="873252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Sledovat trend</a:t>
            </a:r>
            <a:endParaRPr lang="en-US" sz="1600" dirty="0"/>
          </a:p>
        </p:txBody>
      </p:sp>
      <p:sp>
        <p:nvSpPr>
          <p:cNvPr id="11" name="Krok nápadu popis Sledovat trend"/>
          <p:cNvSpPr txBox="1"/>
          <p:nvPr/>
        </p:nvSpPr>
        <p:spPr>
          <a:xfrm>
            <a:off x="8732520" y="23134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klouzavý průměr hmotnosti a četnost chyb váhy během směny</a:t>
            </a:r>
            <a:endParaRPr lang="en-US" sz="1200" dirty="0"/>
          </a:p>
        </p:txBody>
      </p:sp>
      <p:sp>
        <p:nvSpPr>
          <p:cNvPr id="12" name="Krok nápadu Varovat včas"/>
          <p:cNvSpPr/>
          <p:nvPr/>
        </p:nvSpPr>
        <p:spPr>
          <a:xfrm>
            <a:off x="7726680" y="3154680"/>
            <a:ext cx="38862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Ikona Varovat včas – pozadí"/>
          <p:cNvSpPr/>
          <p:nvPr/>
        </p:nvSpPr>
        <p:spPr>
          <a:xfrm>
            <a:off x="7955280" y="3456432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14" name="Ikona Varovat včas" descr="Ikona Varovat vč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004" y="3581156"/>
            <a:ext cx="317480" cy="317480"/>
          </a:xfrm>
          <a:prstGeom prst="rect">
            <a:avLst/>
          </a:prstGeom>
        </p:spPr>
      </p:pic>
      <p:sp>
        <p:nvSpPr>
          <p:cNvPr id="15" name="Krok nápadu název Varovat včas"/>
          <p:cNvSpPr txBox="1"/>
          <p:nvPr/>
        </p:nvSpPr>
        <p:spPr>
          <a:xfrm>
            <a:off x="8732520" y="3337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Varovat včas</a:t>
            </a:r>
            <a:endParaRPr lang="en-US" sz="1600" dirty="0"/>
          </a:p>
        </p:txBody>
      </p:sp>
      <p:sp>
        <p:nvSpPr>
          <p:cNvPr id="16" name="Krok nápadu popis Varovat včas"/>
          <p:cNvSpPr txBox="1"/>
          <p:nvPr/>
        </p:nvSpPr>
        <p:spPr>
          <a:xfrm>
            <a:off x="8732520" y="36850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při překročení varovné meze upozornit mistra linky</a:t>
            </a:r>
            <a:endParaRPr lang="en-US" sz="1200" dirty="0"/>
          </a:p>
        </p:txBody>
      </p:sp>
      <p:sp>
        <p:nvSpPr>
          <p:cNvPr id="17" name="Krok nápadu Zasáhnout dřív"/>
          <p:cNvSpPr/>
          <p:nvPr/>
        </p:nvSpPr>
        <p:spPr>
          <a:xfrm>
            <a:off x="7726680" y="4526280"/>
            <a:ext cx="38862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Ikona Zasáhnout dřív – pozadí"/>
          <p:cNvSpPr/>
          <p:nvPr/>
        </p:nvSpPr>
        <p:spPr>
          <a:xfrm>
            <a:off x="7955280" y="4828032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pic>
        <p:nvPicPr>
          <p:cNvPr id="19" name="Ikona Zasáhnout dřív" descr="Ikona Zasáhnout dřív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4" y="4952756"/>
            <a:ext cx="317480" cy="317480"/>
          </a:xfrm>
          <a:prstGeom prst="rect">
            <a:avLst/>
          </a:prstGeom>
        </p:spPr>
      </p:pic>
      <p:sp>
        <p:nvSpPr>
          <p:cNvPr id="20" name="Krok nápadu název Zasáhnout dřív"/>
          <p:cNvSpPr txBox="1"/>
          <p:nvPr/>
        </p:nvSpPr>
        <p:spPr>
          <a:xfrm>
            <a:off x="8732520" y="4709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Zasáhnout dřív</a:t>
            </a:r>
            <a:endParaRPr lang="en-US" sz="1600" dirty="0"/>
          </a:p>
        </p:txBody>
      </p:sp>
      <p:sp>
        <p:nvSpPr>
          <p:cNvPr id="21" name="Krok nápadu popis Zasáhnout dřív"/>
          <p:cNvSpPr txBox="1"/>
          <p:nvPr/>
        </p:nvSpPr>
        <p:spPr>
          <a:xfrm>
            <a:off x="8732520" y="50566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seřídit váhu nebo podavač, než vzniknou zmetky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83080"/>
            <a:ext cx="6400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chemeClr val="tx1"/>
                </a:solidFill>
              </a:rPr>
              <a:t>DÍKY ZA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chemeClr val="tx1"/>
                </a:solidFill>
              </a:rPr>
              <a:t>POZORNOST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Rád odpovím na otázky.</a:t>
            </a:r>
            <a:endParaRPr lang="en-US" sz="2200" dirty="0"/>
          </a:p>
        </p:txBody>
      </p:sp>
      <p:sp>
        <p:nvSpPr>
          <p:cNvPr id="4" name="Odkazy"/>
          <p:cNvSpPr/>
          <p:nvPr/>
        </p:nvSpPr>
        <p:spPr>
          <a:xfrm>
            <a:off x="7040880" y="1828800"/>
            <a:ext cx="45720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Ikona github.com/MatyasAmler/linky-monitor – pozadí"/>
          <p:cNvSpPr/>
          <p:nvPr/>
        </p:nvSpPr>
        <p:spPr>
          <a:xfrm>
            <a:off x="731520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6" name="Ikona github.com/MatyasAmler/linky-monitor" descr="Ikona github.com/MatyasAmler/linky-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842" y="2259482"/>
            <a:ext cx="281635" cy="281635"/>
          </a:xfrm>
          <a:prstGeom prst="rect">
            <a:avLst/>
          </a:prstGeom>
        </p:spPr>
      </p:pic>
      <p:sp>
        <p:nvSpPr>
          <p:cNvPr id="7" name="Odkaz github.com/MatyasAmler/linky-monitor"/>
          <p:cNvSpPr txBox="1"/>
          <p:nvPr/>
        </p:nvSpPr>
        <p:spPr>
          <a:xfrm>
            <a:off x="8001000" y="2148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github.com/MatyasAmler/linky-monitor</a:t>
            </a:r>
            <a:endParaRPr lang="en-US" sz="1300" dirty="0"/>
          </a:p>
        </p:txBody>
      </p:sp>
      <p:sp>
        <p:nvSpPr>
          <p:cNvPr id="8" name="Ikona matyasamler.cz – pozadí"/>
          <p:cNvSpPr/>
          <p:nvPr/>
        </p:nvSpPr>
        <p:spPr>
          <a:xfrm>
            <a:off x="7315200" y="292608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9" name="Ikona matyasamler.cz" descr="Ikona matyasamler.c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842" y="3036722"/>
            <a:ext cx="281635" cy="281635"/>
          </a:xfrm>
          <a:prstGeom prst="rect">
            <a:avLst/>
          </a:prstGeom>
        </p:spPr>
      </p:pic>
      <p:sp>
        <p:nvSpPr>
          <p:cNvPr id="10" name="Odkaz matyasamler.cz"/>
          <p:cNvSpPr txBox="1"/>
          <p:nvPr/>
        </p:nvSpPr>
        <p:spPr>
          <a:xfrm>
            <a:off x="8001000" y="2926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matyasamler.cz</a:t>
            </a:r>
            <a:endParaRPr lang="en-US" sz="1300" dirty="0"/>
          </a:p>
        </p:txBody>
      </p:sp>
      <p:sp>
        <p:nvSpPr>
          <p:cNvPr id="11" name="Ikona amler.prace@gmail.com – pozadí"/>
          <p:cNvSpPr/>
          <p:nvPr/>
        </p:nvSpPr>
        <p:spPr>
          <a:xfrm>
            <a:off x="7315200" y="37033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12" name="Ikona amler.prace@gmail.com" descr="Ikona amler.prace@gmail.c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842" y="3813962"/>
            <a:ext cx="281635" cy="281635"/>
          </a:xfrm>
          <a:prstGeom prst="rect">
            <a:avLst/>
          </a:prstGeom>
        </p:spPr>
      </p:pic>
      <p:sp>
        <p:nvSpPr>
          <p:cNvPr id="13" name="Odkaz amler.prace@gmail.com"/>
          <p:cNvSpPr txBox="1"/>
          <p:nvPr/>
        </p:nvSpPr>
        <p:spPr>
          <a:xfrm>
            <a:off x="8001000" y="3703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amler.prace@gmail.com</a:t>
            </a:r>
            <a:endParaRPr lang="en-US" sz="1300" dirty="0"/>
          </a:p>
        </p:txBody>
      </p:sp>
      <p:sp>
        <p:nvSpPr>
          <p:cNvPr id="14" name="Autor"/>
          <p:cNvSpPr txBox="1"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Matyáš Amler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ky monitor">
  <a:themeElements>
    <a:clrScheme name="Linky monitor">
      <a:dk1>
        <a:srgbClr val="F2F4F7"/>
      </a:dk1>
      <a:lt1>
        <a:srgbClr val="0D1117"/>
      </a:lt1>
      <a:dk2>
        <a:srgbClr val="93A0B0"/>
      </a:dk2>
      <a:lt2>
        <a:srgbClr val="161C24"/>
      </a:lt2>
      <a:accent1>
        <a:srgbClr val="FFC61A"/>
      </a:accent1>
      <a:accent2>
        <a:srgbClr val="2FBF71"/>
      </a:accent2>
      <a:accent3>
        <a:srgbClr val="FF4D4F"/>
      </a:accent3>
      <a:accent4>
        <a:srgbClr val="FF9F1C"/>
      </a:accent4>
      <a:accent5>
        <a:srgbClr val="4C9AFF"/>
      </a:accent5>
      <a:accent6>
        <a:srgbClr val="2C3643"/>
      </a:accent6>
      <a:hlink>
        <a:srgbClr val="FFC61A"/>
      </a:hlink>
      <a:folHlink>
        <a:srgbClr val="FFC61A"/>
      </a:folHlink>
    </a:clrScheme>
    <a:fontScheme name="Linky monitor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Linky monitor</dc:title>
  <dc:subject>Výkon balicích linek a automatický report</dc:subject>
  <dc:creator>Matyáš Amler</dc:creator>
  <cp:lastModifiedBy>Matyáš Amler</cp:lastModifiedBy>
  <cp:revision>1</cp:revision>
  <dcterms:created xsi:type="dcterms:W3CDTF">2026-10-25T13:29:02Z</dcterms:created>
  <dcterms:modified xsi:type="dcterms:W3CDTF">2026-10-25T13:29:02Z</dcterms:modified>
</cp:coreProperties>
</file>